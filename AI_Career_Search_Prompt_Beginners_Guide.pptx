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dafd3f6d-df13-e215-873a-bcc56c7ddc3d}">
          <p14:sldIdLst>
            <p14:sldId id="256"/>
          </p14:sldIdLst>
        </p14:section>
        <p14:section name="What it is" id="{f6dbf5cc-99bc-7620-f20e-d1f67974231f}">
          <p14:sldIdLst>
            <p14:sldId id="257"/>
            <p14:sldId id="258"/>
          </p14:sldIdLst>
        </p14:section>
        <p14:section name="Step by step" id="{e9df4056-a4f0-f205-6c2b-2d2c6add7fce}">
          <p14:sldIdLst>
            <p14:sldId id="259"/>
            <p14:sldId id="260"/>
            <p14:sldId id="261"/>
            <p14:sldId id="262"/>
            <p14:sldId id="263"/>
            <p14:sldId id="264"/>
          </p14:sldIdLst>
        </p14:section>
        <p14:section name="Good habits" id="{4d088609-9dbe-72e2-35dd-9ce8206a1df9}">
          <p14:sldIdLst>
            <p14:sldId id="265"/>
            <p14:sldId id="266"/>
            <p14:sldId id="267"/>
          </p14:sldIdLst>
        </p14:section>
        <p14:section name="Get it" id="{f8b65979-b790-1820-b8ff-0553d080ff90}">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guide shows you, step by step, how to use a free prompt that turns an AI chat assistant into an honest career coach. You don't need any technical skills. You just need internet access and a free AI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prompt is just text. You copy it into an AI chat, and it gives the AI rules to follow. This one is built for anyone looking for a job, apprenticeship, PhD, scholarship or other career opportunity, in any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all you need. You don't have to pay. Free plans do limit how many messages you can send each day, so run one search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to the GitHub page, open the master prompt file and use the copy button. You don't need to sign in to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will ask you about your education, experience, skills and goals. Be truthful: it can only use what you tell it. No degree? That's fine. Tell it your school qualifications, training or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step most people forget. Save your profile, and later your tracker, somewhere private. That stops you repeating the interview and stops the AI suggesting the same opportunity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Commands are simple words you type. Start with EXPLORE if you're unsure, or go straight to SEARCH JOBS. On a free plan, run one command at a time, because a full search uses a lot of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opportunity gets one of four labels. Only VERIFIED and ASK FIRST are worth your time. ASK FIRST means you should email the employer or university with the question it gives you before you put hours into an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PROCEED is the only way the AI will write documents. Always read them before sending, and make them sound like you. Then type APPLIED to keep your tracker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daily routine works better than one long session. If your assistant offers scheduled tasks, you can schedule DAILY each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is designed to flag scams and protect your privacy, but you should still use your own judgement. If anyone asks you to pay for a job, walk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honest about testing matters. The tests in TESTING.md check things like closed adverts, scams, illegal sponsorship fees, partly funded scholarships and privacy. If you try it in another assistant, please share what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guide and test results are all free on GitHub under a Creative Commons licence, so anyone can use, share and adapt them with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37160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731520" y="3611880"/>
            <a:ext cx="10241280" cy="1280160"/>
          </a:xfrm>
          <a:prstGeom prst="rect">
            <a:avLst/>
          </a:prstGeom>
          <a:noFill/>
          <a:ln/>
        </p:spPr>
        <p:txBody>
          <a:bodyPr wrap="square" rtlCol="0"/>
          <a:lstStyle>
            <a:lvl1pPr algn="l" indent="0" marL="0">
              <a:buNone/>
              <a:defRPr lang="en-US" sz="2200" dirty="0">
                <a:solidFill>
                  <a:srgbClr val="E2E8F0"/>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lstStyle>
            <a:lvl1pPr algn="l" indent="0" marL="0">
              <a:buNone/>
              <a:defRPr lang="en-US" sz="3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chemeClr val="accent5"/>
                </a:solidFill>
              </a:rPr>
              <a:t>AI Career Search Prompt · Free Public Beta · by Abuhurairah Rahman Pathan</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Abu1997-Pathan/ai-job-search-prompt" TargetMode="External"/><Relationship Id="rId3" Type="http://schemas.openxmlformats.org/officeDocument/2006/relationships/hyperlink" Target="https://www.linkedin.com/in/pathan-abuhurairah-rahman-1997-khan" TargetMode="External"/><Relationship Id="rId4" Type="http://schemas.openxmlformats.org/officeDocument/2006/relationships/hyperlink" Target="https://creativecommons.org/licenses/by/4.0/" TargetMode="External"/><Relationship Id="rId1" Type="http://schemas.openxmlformats.org/officeDocument/2006/relationships/image" Target="../media/image-13-1.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areer circle"/>
          <p:cNvSpPr/>
          <p:nvPr/>
        </p:nvSpPr>
        <p:spPr>
          <a:xfrm>
            <a:off x="731520" y="502920"/>
            <a:ext cx="914400" cy="914400"/>
          </a:xfrm>
          <a:prstGeom prst="ellipse">
            <a:avLst/>
          </a:prstGeom>
          <a:solidFill>
            <a:schemeClr val="accent1"/>
          </a:solidFill>
          <a:ln w="12700">
            <a:solidFill>
              <a:schemeClr val="accent1"/>
            </a:solidFill>
            <a:prstDash val="solid"/>
          </a:ln>
        </p:spPr>
      </p:sp>
      <p:pic>
        <p:nvPicPr>
          <p:cNvPr id="3" name="Career icon" descr="Career">    </p:cNvPr>
          <p:cNvPicPr>
            <a:picLocks noChangeAspect="1"/>
          </p:cNvPicPr>
          <p:nvPr/>
        </p:nvPicPr>
        <p:blipFill>
          <a:blip r:embed="rId1"/>
          <a:stretch>
            <a:fillRect/>
          </a:stretch>
        </p:blipFill>
        <p:spPr>
          <a:xfrm>
            <a:off x="960120" y="731520"/>
            <a:ext cx="457200" cy="457200"/>
          </a:xfrm>
          <a:prstGeom prst="rect">
            <a:avLst/>
          </a:prstGeom>
        </p:spPr>
      </p:pic>
      <p:sp>
        <p:nvSpPr>
          <p:cNvPr id="4" name="Beta pill"/>
          <p:cNvSpPr/>
          <p:nvPr/>
        </p:nvSpPr>
        <p:spPr>
          <a:xfrm>
            <a:off x="731520" y="1600200"/>
            <a:ext cx="3291840" cy="384048"/>
          </a:xfrm>
          <a:prstGeom prst="roundRect">
            <a:avLst>
              <a:gd name="adj" fmla="val 50000"/>
            </a:avLst>
          </a:prstGeom>
          <a:solidFill>
            <a:schemeClr val="accent2"/>
          </a:solidFill>
          <a:ln w="12700">
            <a:solidFill>
              <a:schemeClr val="accent2"/>
            </a:solidFill>
            <a:prstDash val="solid"/>
          </a:ln>
        </p:spPr>
      </p:sp>
      <p:sp>
        <p:nvSpPr>
          <p:cNvPr id="5" name="Text 2"/>
          <p:cNvSpPr txBox="1"/>
          <p:nvPr/>
        </p:nvSpPr>
        <p:spPr>
          <a:xfrm>
            <a:off x="731520" y="1600200"/>
            <a:ext cx="3291840" cy="384048"/>
          </a:xfrm>
          <a:prstGeom prst="rect">
            <a:avLst/>
          </a:prstGeom>
          <a:noFill/>
          <a:ln/>
        </p:spPr>
        <p:txBody>
          <a:bodyPr wrap="square" lIns="0" tIns="0" rIns="0" bIns="0" rtlCol="0" anchor="ctr"/>
          <a:lstStyle/>
          <a:p>
            <a:pPr algn="ctr" indent="0" marL="0">
              <a:buNone/>
            </a:pPr>
            <a:r>
              <a:rPr lang="en-US" sz="1300" b="1" spc="200" kern="0" dirty="0">
                <a:solidFill>
                  <a:schemeClr val="tx2"/>
                </a:solidFill>
              </a:rPr>
              <a:t>FREE PUBLIC BETA · VERSION 2.3</a:t>
            </a:r>
            <a:endParaRPr lang="en-US" sz="1300" dirty="0"/>
          </a:p>
        </p:txBody>
      </p:sp>
      <p:sp>
        <p:nvSpPr>
          <p:cNvPr id="6" name="Text 0"/>
          <p:cNvSpPr/>
          <p:nvPr>
            <p:ph idx="100" type="title" hasCustomPrompt="1"/>
          </p:nvPr>
        </p:nvSpPr>
        <p:spPr>
          <a:xfrm>
            <a:off x="731520" y="2103120"/>
            <a:ext cx="10698480" cy="137160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Find your career with AI</a:t>
            </a:r>
            <a:endParaRPr lang="en-US" sz="4800" dirty="0"/>
          </a:p>
        </p:txBody>
      </p:sp>
      <p:sp>
        <p:nvSpPr>
          <p:cNvPr id="7" name="Text 0"/>
          <p:cNvSpPr/>
          <p:nvPr>
            <p:ph idx="101" type="body" hasCustomPrompt="1"/>
          </p:nvPr>
        </p:nvSpPr>
        <p:spPr>
          <a:xfrm>
            <a:off x="731520" y="3611880"/>
            <a:ext cx="10241280" cy="1280160"/>
          </a:xfrm>
          <a:prstGeom prst="rect">
            <a:avLst/>
          </a:prstGeom>
          <a:noFill/>
          <a:ln/>
        </p:spPr>
        <p:txBody>
          <a:bodyPr wrap="square" lIns="0" tIns="0" rIns="0" bIns="0" rtlCol="0" anchor="t"/>
          <a:lstStyle/>
          <a:p>
            <a:pPr algn="l" indent="0" marL="0">
              <a:buNone/>
            </a:pPr>
            <a:r>
              <a:rPr lang="en-US" sz="2200" dirty="0">
                <a:solidFill>
                  <a:srgbClr val="E2E8F0"/>
                </a:solidFill>
              </a:rPr>
              <a:t>A step-by-step guide for complete beginners: jobs, PhDs, scholarships and more, using any AI chat assistant, for free.</a:t>
            </a:r>
            <a:endParaRPr lang="en-US" sz="2200" dirty="0"/>
          </a:p>
        </p:txBody>
      </p:sp>
      <p:sp>
        <p:nvSpPr>
          <p:cNvPr id="8" name="Text 5"/>
          <p:cNvSpPr txBox="1"/>
          <p:nvPr/>
        </p:nvSpPr>
        <p:spPr>
          <a:xfrm>
            <a:off x="731520" y="5989320"/>
            <a:ext cx="10058400" cy="365760"/>
          </a:xfrm>
          <a:prstGeom prst="rect">
            <a:avLst/>
          </a:prstGeom>
          <a:noFill/>
          <a:ln/>
        </p:spPr>
        <p:txBody>
          <a:bodyPr wrap="square" lIns="0" tIns="0" rIns="0" bIns="0" rtlCol="0" anchor="t"/>
          <a:lstStyle/>
          <a:p>
            <a:pPr indent="0" marL="0">
              <a:buNone/>
            </a:pPr>
            <a:r>
              <a:rPr lang="en-US" sz="1500" dirty="0">
                <a:solidFill>
                  <a:srgbClr val="5EB8AD"/>
                </a:solidFill>
              </a:rPr>
              <a:t>Abuhurairah Rahman Pathan · MSc Bioinformatics, University of Liverpool</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What is this, in plain words?</a:t>
            </a:r>
            <a:endParaRPr lang="en-US" sz="3600" dirty="0"/>
          </a:p>
        </p:txBody>
      </p:sp>
      <p:sp>
        <p:nvSpPr>
          <p:cNvPr id="3" name="Explainer card"/>
          <p:cNvSpPr/>
          <p:nvPr/>
        </p:nvSpPr>
        <p:spPr>
          <a:xfrm>
            <a:off x="548640" y="1463040"/>
            <a:ext cx="5486400" cy="4480560"/>
          </a:xfrm>
          <a:prstGeom prst="roundRect">
            <a:avLst>
              <a:gd name="adj" fmla="val 2449"/>
            </a:avLst>
          </a:prstGeom>
          <a:solidFill>
            <a:schemeClr val="bg2"/>
          </a:solidFill>
          <a:ln w="12700">
            <a:solidFill>
              <a:schemeClr val="bg2"/>
            </a:solidFill>
            <a:prstDash val="solid"/>
          </a:ln>
        </p:spPr>
      </p:sp>
      <p:sp>
        <p:nvSpPr>
          <p:cNvPr id="4" name="AI circle"/>
          <p:cNvSpPr/>
          <p:nvPr/>
        </p:nvSpPr>
        <p:spPr>
          <a:xfrm>
            <a:off x="868680" y="1783080"/>
            <a:ext cx="822960" cy="822960"/>
          </a:xfrm>
          <a:prstGeom prst="ellipse">
            <a:avLst/>
          </a:prstGeom>
          <a:solidFill>
            <a:schemeClr val="accent1"/>
          </a:solidFill>
          <a:ln w="12700">
            <a:solidFill>
              <a:schemeClr val="accent1"/>
            </a:solidFill>
            <a:prstDash val="solid"/>
          </a:ln>
        </p:spPr>
      </p:sp>
      <p:pic>
        <p:nvPicPr>
          <p:cNvPr id="5" name="AI icon" descr="AI">    </p:cNvPr>
          <p:cNvPicPr>
            <a:picLocks noChangeAspect="1"/>
          </p:cNvPicPr>
          <p:nvPr/>
        </p:nvPicPr>
        <p:blipFill>
          <a:blip r:embed="rId1"/>
          <a:stretch>
            <a:fillRect/>
          </a:stretch>
        </p:blipFill>
        <p:spPr>
          <a:xfrm>
            <a:off x="1074420" y="1988820"/>
            <a:ext cx="411480" cy="411480"/>
          </a:xfrm>
          <a:prstGeom prst="rect">
            <a:avLst/>
          </a:prstGeom>
        </p:spPr>
      </p:pic>
      <p:sp>
        <p:nvSpPr>
          <p:cNvPr id="6" name="Text 3"/>
          <p:cNvSpPr txBox="1"/>
          <p:nvPr/>
        </p:nvSpPr>
        <p:spPr>
          <a:xfrm>
            <a:off x="1874520" y="1828800"/>
            <a:ext cx="3931920" cy="822960"/>
          </a:xfrm>
          <a:prstGeom prst="rect">
            <a:avLst/>
          </a:prstGeom>
          <a:noFill/>
          <a:ln/>
        </p:spPr>
        <p:txBody>
          <a:bodyPr wrap="square" lIns="0" tIns="0" rIns="0" bIns="0" rtlCol="0" anchor="t"/>
          <a:lstStyle/>
          <a:p>
            <a:pPr indent="0" marL="0">
              <a:buNone/>
            </a:pPr>
            <a:r>
              <a:rPr lang="en-US" sz="2000" b="1" dirty="0">
                <a:solidFill>
                  <a:schemeClr val="tx2"/>
                </a:solidFill>
              </a:rPr>
              <a:t>A set of instructions you copy into an AI chat</a:t>
            </a:r>
            <a:endParaRPr lang="en-US" sz="2000" dirty="0"/>
          </a:p>
        </p:txBody>
      </p:sp>
      <p:sp>
        <p:nvSpPr>
          <p:cNvPr id="7" name="Text 4"/>
          <p:cNvSpPr txBox="1"/>
          <p:nvPr/>
        </p:nvSpPr>
        <p:spPr>
          <a:xfrm>
            <a:off x="868680" y="2834640"/>
            <a:ext cx="4937760" cy="292608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It's called a "prompt". You paste it into Claude, ChatGPT, Gemini, Copilot or similar.</a:t>
            </a:r>
            <a:endParaRPr lang="en-US" sz="1600" dirty="0"/>
          </a:p>
          <a:p>
            <a:pPr marL="342900" indent="-342900">
              <a:spcAft>
                <a:spcPts val="1000"/>
              </a:spcAft>
              <a:buSzPct val="100000"/>
              <a:buChar char="•"/>
            </a:pPr>
            <a:r>
              <a:rPr lang="en-US" sz="1600" dirty="0">
                <a:solidFill>
                  <a:schemeClr val="tx1"/>
                </a:solidFill>
              </a:rPr>
              <a:t>The AI then works like a careful career coach: it interviews you, searches, checks each opportunity and helps you apply.</a:t>
            </a:r>
            <a:endParaRPr lang="en-US" sz="1600" dirty="0"/>
          </a:p>
          <a:p>
            <a:pPr marL="342900" indent="-342900">
              <a:spcAft>
                <a:spcPts val="1000"/>
              </a:spcAft>
              <a:buSzPct val="100000"/>
              <a:buChar char="•"/>
            </a:pPr>
            <a:r>
              <a:rPr lang="en-US" sz="1600" dirty="0">
                <a:solidFill>
                  <a:schemeClr val="tx1"/>
                </a:solidFill>
              </a:rPr>
              <a:t>It never invents facts about you, and never applies for you.</a:t>
            </a:r>
            <a:endParaRPr lang="en-US" sz="1600" dirty="0"/>
          </a:p>
        </p:txBody>
      </p:sp>
      <p:sp>
        <p:nvSpPr>
          <p:cNvPr id="8" name="Text 5"/>
          <p:cNvSpPr txBox="1"/>
          <p:nvPr/>
        </p:nvSpPr>
        <p:spPr>
          <a:xfrm>
            <a:off x="6492240" y="1463040"/>
            <a:ext cx="5120640" cy="457200"/>
          </a:xfrm>
          <a:prstGeom prst="rect">
            <a:avLst/>
          </a:prstGeom>
          <a:noFill/>
          <a:ln/>
        </p:spPr>
        <p:txBody>
          <a:bodyPr wrap="square" lIns="0" tIns="0" rIns="0" bIns="0" rtlCol="0" anchor="t"/>
          <a:lstStyle/>
          <a:p>
            <a:pPr indent="0" marL="0">
              <a:buNone/>
            </a:pPr>
            <a:r>
              <a:rPr lang="en-US" sz="2200" b="1" dirty="0">
                <a:solidFill>
                  <a:schemeClr val="tx2"/>
                </a:solidFill>
              </a:rPr>
              <a:t>Who it's for</a:t>
            </a:r>
            <a:endParaRPr lang="en-US" sz="2200" dirty="0"/>
          </a:p>
        </p:txBody>
      </p:sp>
      <p:sp>
        <p:nvSpPr>
          <p:cNvPr id="9" name="Tick 1 circle"/>
          <p:cNvSpPr/>
          <p:nvPr/>
        </p:nvSpPr>
        <p:spPr>
          <a:xfrm>
            <a:off x="6492240" y="2103120"/>
            <a:ext cx="457200" cy="457200"/>
          </a:xfrm>
          <a:prstGeom prst="ellipse">
            <a:avLst/>
          </a:prstGeom>
          <a:solidFill>
            <a:schemeClr val="accent1"/>
          </a:solidFill>
          <a:ln w="12700">
            <a:solidFill>
              <a:schemeClr val="accent1"/>
            </a:solidFill>
            <a:prstDash val="solid"/>
          </a:ln>
        </p:spPr>
      </p:sp>
      <p:pic>
        <p:nvPicPr>
          <p:cNvPr id="10" name="Tick 1 icon" descr="Tick 1">    </p:cNvPr>
          <p:cNvPicPr>
            <a:picLocks noChangeAspect="1"/>
          </p:cNvPicPr>
          <p:nvPr/>
        </p:nvPicPr>
        <p:blipFill>
          <a:blip r:embed="rId2"/>
          <a:stretch>
            <a:fillRect/>
          </a:stretch>
        </p:blipFill>
        <p:spPr>
          <a:xfrm>
            <a:off x="6606540" y="2217420"/>
            <a:ext cx="228600" cy="228600"/>
          </a:xfrm>
          <a:prstGeom prst="rect">
            <a:avLst/>
          </a:prstGeom>
        </p:spPr>
      </p:pic>
      <p:sp>
        <p:nvSpPr>
          <p:cNvPr id="11" name="Text 7"/>
          <p:cNvSpPr txBox="1"/>
          <p:nvPr/>
        </p:nvSpPr>
        <p:spPr>
          <a:xfrm>
            <a:off x="7132320" y="2103120"/>
            <a:ext cx="4480560" cy="457200"/>
          </a:xfrm>
          <a:prstGeom prst="rect">
            <a:avLst/>
          </a:prstGeom>
          <a:noFill/>
          <a:ln/>
        </p:spPr>
        <p:txBody>
          <a:bodyPr wrap="square" lIns="0" tIns="0" rIns="0" bIns="0" rtlCol="0" anchor="ctr"/>
          <a:lstStyle/>
          <a:p>
            <a:pPr indent="0" marL="0">
              <a:buNone/>
            </a:pPr>
            <a:r>
              <a:rPr lang="en-US" sz="1700" dirty="0">
                <a:solidFill>
                  <a:schemeClr val="tx1"/>
                </a:solidFill>
              </a:rPr>
              <a:t>School leavers and students</a:t>
            </a:r>
            <a:endParaRPr lang="en-US" sz="1700" dirty="0"/>
          </a:p>
        </p:txBody>
      </p:sp>
      <p:sp>
        <p:nvSpPr>
          <p:cNvPr id="12" name="Tick 2 circle"/>
          <p:cNvSpPr/>
          <p:nvPr/>
        </p:nvSpPr>
        <p:spPr>
          <a:xfrm>
            <a:off x="6492240" y="2834640"/>
            <a:ext cx="457200" cy="457200"/>
          </a:xfrm>
          <a:prstGeom prst="ellipse">
            <a:avLst/>
          </a:prstGeom>
          <a:solidFill>
            <a:schemeClr val="accent1"/>
          </a:solidFill>
          <a:ln w="12700">
            <a:solidFill>
              <a:schemeClr val="accent1"/>
            </a:solidFill>
            <a:prstDash val="solid"/>
          </a:ln>
        </p:spPr>
      </p:sp>
      <p:pic>
        <p:nvPicPr>
          <p:cNvPr id="13" name="Tick 2 icon" descr="Tick 2">    </p:cNvPr>
          <p:cNvPicPr>
            <a:picLocks noChangeAspect="1"/>
          </p:cNvPicPr>
          <p:nvPr/>
        </p:nvPicPr>
        <p:blipFill>
          <a:blip r:embed="rId3"/>
          <a:stretch>
            <a:fillRect/>
          </a:stretch>
        </p:blipFill>
        <p:spPr>
          <a:xfrm>
            <a:off x="6606540" y="2948940"/>
            <a:ext cx="228600" cy="228600"/>
          </a:xfrm>
          <a:prstGeom prst="rect">
            <a:avLst/>
          </a:prstGeom>
        </p:spPr>
      </p:pic>
      <p:sp>
        <p:nvSpPr>
          <p:cNvPr id="14" name="Text 9"/>
          <p:cNvSpPr txBox="1"/>
          <p:nvPr/>
        </p:nvSpPr>
        <p:spPr>
          <a:xfrm>
            <a:off x="7132320" y="2834640"/>
            <a:ext cx="4480560" cy="457200"/>
          </a:xfrm>
          <a:prstGeom prst="rect">
            <a:avLst/>
          </a:prstGeom>
          <a:noFill/>
          <a:ln/>
        </p:spPr>
        <p:txBody>
          <a:bodyPr wrap="square" lIns="0" tIns="0" rIns="0" bIns="0" rtlCol="0" anchor="ctr"/>
          <a:lstStyle/>
          <a:p>
            <a:pPr indent="0" marL="0">
              <a:buNone/>
            </a:pPr>
            <a:r>
              <a:rPr lang="en-US" sz="1700" dirty="0">
                <a:solidFill>
                  <a:schemeClr val="tx1"/>
                </a:solidFill>
              </a:rPr>
              <a:t>Graduates and career changers</a:t>
            </a:r>
            <a:endParaRPr lang="en-US" sz="1700" dirty="0"/>
          </a:p>
        </p:txBody>
      </p:sp>
      <p:sp>
        <p:nvSpPr>
          <p:cNvPr id="15" name="Tick 3 circle"/>
          <p:cNvSpPr/>
          <p:nvPr/>
        </p:nvSpPr>
        <p:spPr>
          <a:xfrm>
            <a:off x="6492240" y="3566160"/>
            <a:ext cx="457200" cy="457200"/>
          </a:xfrm>
          <a:prstGeom prst="ellipse">
            <a:avLst/>
          </a:prstGeom>
          <a:solidFill>
            <a:schemeClr val="accent1"/>
          </a:solidFill>
          <a:ln w="12700">
            <a:solidFill>
              <a:schemeClr val="accent1"/>
            </a:solidFill>
            <a:prstDash val="solid"/>
          </a:ln>
        </p:spPr>
      </p:sp>
      <p:pic>
        <p:nvPicPr>
          <p:cNvPr id="16" name="Tick 3 icon" descr="Tick 3">    </p:cNvPr>
          <p:cNvPicPr>
            <a:picLocks noChangeAspect="1"/>
          </p:cNvPicPr>
          <p:nvPr/>
        </p:nvPicPr>
        <p:blipFill>
          <a:blip r:embed="rId4"/>
          <a:stretch>
            <a:fillRect/>
          </a:stretch>
        </p:blipFill>
        <p:spPr>
          <a:xfrm>
            <a:off x="6606540" y="3680460"/>
            <a:ext cx="228600" cy="228600"/>
          </a:xfrm>
          <a:prstGeom prst="rect">
            <a:avLst/>
          </a:prstGeom>
        </p:spPr>
      </p:pic>
      <p:sp>
        <p:nvSpPr>
          <p:cNvPr id="17" name="Text 11"/>
          <p:cNvSpPr txBox="1"/>
          <p:nvPr/>
        </p:nvSpPr>
        <p:spPr>
          <a:xfrm>
            <a:off x="7132320" y="3566160"/>
            <a:ext cx="4480560" cy="457200"/>
          </a:xfrm>
          <a:prstGeom prst="rect">
            <a:avLst/>
          </a:prstGeom>
          <a:noFill/>
          <a:ln/>
        </p:spPr>
        <p:txBody>
          <a:bodyPr wrap="square" lIns="0" tIns="0" rIns="0" bIns="0" rtlCol="0" anchor="ctr"/>
          <a:lstStyle/>
          <a:p>
            <a:pPr indent="0" marL="0">
              <a:buNone/>
            </a:pPr>
            <a:r>
              <a:rPr lang="en-US" sz="1700" dirty="0">
                <a:solidFill>
                  <a:schemeClr val="tx1"/>
                </a:solidFill>
              </a:rPr>
              <a:t>People returning to work</a:t>
            </a:r>
            <a:endParaRPr lang="en-US" sz="1700" dirty="0"/>
          </a:p>
        </p:txBody>
      </p:sp>
      <p:sp>
        <p:nvSpPr>
          <p:cNvPr id="18" name="Tick 4 circle"/>
          <p:cNvSpPr/>
          <p:nvPr/>
        </p:nvSpPr>
        <p:spPr>
          <a:xfrm>
            <a:off x="6492240" y="4297680"/>
            <a:ext cx="457200" cy="457200"/>
          </a:xfrm>
          <a:prstGeom prst="ellipse">
            <a:avLst/>
          </a:prstGeom>
          <a:solidFill>
            <a:schemeClr val="accent1"/>
          </a:solidFill>
          <a:ln w="12700">
            <a:solidFill>
              <a:schemeClr val="accent1"/>
            </a:solidFill>
            <a:prstDash val="solid"/>
          </a:ln>
        </p:spPr>
      </p:sp>
      <p:pic>
        <p:nvPicPr>
          <p:cNvPr id="19" name="Tick 4 icon" descr="Tick 4">    </p:cNvPr>
          <p:cNvPicPr>
            <a:picLocks noChangeAspect="1"/>
          </p:cNvPicPr>
          <p:nvPr/>
        </p:nvPicPr>
        <p:blipFill>
          <a:blip r:embed="rId5"/>
          <a:stretch>
            <a:fillRect/>
          </a:stretch>
        </p:blipFill>
        <p:spPr>
          <a:xfrm>
            <a:off x="6606540" y="4411980"/>
            <a:ext cx="228600" cy="228600"/>
          </a:xfrm>
          <a:prstGeom prst="rect">
            <a:avLst/>
          </a:prstGeom>
        </p:spPr>
      </p:pic>
      <p:sp>
        <p:nvSpPr>
          <p:cNvPr id="20" name="Text 13"/>
          <p:cNvSpPr txBox="1"/>
          <p:nvPr/>
        </p:nvSpPr>
        <p:spPr>
          <a:xfrm>
            <a:off x="7132320" y="4297680"/>
            <a:ext cx="4480560" cy="457200"/>
          </a:xfrm>
          <a:prstGeom prst="rect">
            <a:avLst/>
          </a:prstGeom>
          <a:noFill/>
          <a:ln/>
        </p:spPr>
        <p:txBody>
          <a:bodyPr wrap="square" lIns="0" tIns="0" rIns="0" bIns="0" rtlCol="0" anchor="ctr"/>
          <a:lstStyle/>
          <a:p>
            <a:pPr indent="0" marL="0">
              <a:buNone/>
            </a:pPr>
            <a:r>
              <a:rPr lang="en-US" sz="1700" dirty="0">
                <a:solidFill>
                  <a:schemeClr val="tx1"/>
                </a:solidFill>
              </a:rPr>
              <a:t>People moving to a new country</a:t>
            </a:r>
            <a:endParaRPr lang="en-US" sz="1700" dirty="0"/>
          </a:p>
        </p:txBody>
      </p:sp>
      <p:sp>
        <p:nvSpPr>
          <p:cNvPr id="21" name="Tick 5 circle"/>
          <p:cNvSpPr/>
          <p:nvPr/>
        </p:nvSpPr>
        <p:spPr>
          <a:xfrm>
            <a:off x="6492240" y="5029200"/>
            <a:ext cx="457200" cy="457200"/>
          </a:xfrm>
          <a:prstGeom prst="ellipse">
            <a:avLst/>
          </a:prstGeom>
          <a:solidFill>
            <a:schemeClr val="accent1"/>
          </a:solidFill>
          <a:ln w="12700">
            <a:solidFill>
              <a:schemeClr val="accent1"/>
            </a:solidFill>
            <a:prstDash val="solid"/>
          </a:ln>
        </p:spPr>
      </p:sp>
      <p:pic>
        <p:nvPicPr>
          <p:cNvPr id="22" name="Tick 5 icon" descr="Tick 5">    </p:cNvPr>
          <p:cNvPicPr>
            <a:picLocks noChangeAspect="1"/>
          </p:cNvPicPr>
          <p:nvPr/>
        </p:nvPicPr>
        <p:blipFill>
          <a:blip r:embed="rId6"/>
          <a:stretch>
            <a:fillRect/>
          </a:stretch>
        </p:blipFill>
        <p:spPr>
          <a:xfrm>
            <a:off x="6606540" y="5143500"/>
            <a:ext cx="228600" cy="228600"/>
          </a:xfrm>
          <a:prstGeom prst="rect">
            <a:avLst/>
          </a:prstGeom>
        </p:spPr>
      </p:pic>
      <p:sp>
        <p:nvSpPr>
          <p:cNvPr id="23" name="Text 15"/>
          <p:cNvSpPr txBox="1"/>
          <p:nvPr/>
        </p:nvSpPr>
        <p:spPr>
          <a:xfrm>
            <a:off x="7132320" y="5029200"/>
            <a:ext cx="4480560" cy="457200"/>
          </a:xfrm>
          <a:prstGeom prst="rect">
            <a:avLst/>
          </a:prstGeom>
          <a:noFill/>
          <a:ln/>
        </p:spPr>
        <p:txBody>
          <a:bodyPr wrap="square" lIns="0" tIns="0" rIns="0" bIns="0" rtlCol="0" anchor="ctr"/>
          <a:lstStyle/>
          <a:p>
            <a:pPr indent="0" marL="0">
              <a:buNone/>
            </a:pPr>
            <a:r>
              <a:rPr lang="en-US" sz="1700" dirty="0">
                <a:solidFill>
                  <a:schemeClr val="tx1"/>
                </a:solidFill>
              </a:rPr>
              <a:t>Experienced professionals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What you need before you start</a:t>
            </a:r>
            <a:endParaRPr lang="en-US" sz="3600" dirty="0"/>
          </a:p>
        </p:txBody>
      </p:sp>
      <p:sp>
        <p:nvSpPr>
          <p:cNvPr id="3" name="Need card 1"/>
          <p:cNvSpPr/>
          <p:nvPr/>
        </p:nvSpPr>
        <p:spPr>
          <a:xfrm>
            <a:off x="548640" y="1554480"/>
            <a:ext cx="2606040" cy="3566160"/>
          </a:xfrm>
          <a:prstGeom prst="roundRect">
            <a:avLst>
              <a:gd name="adj" fmla="val 4211"/>
            </a:avLst>
          </a:prstGeom>
          <a:solidFill>
            <a:schemeClr val="bg2"/>
          </a:solidFill>
          <a:ln w="12700">
            <a:solidFill>
              <a:schemeClr val="bg2"/>
            </a:solidFill>
            <a:prstDash val="solid"/>
          </a:ln>
        </p:spPr>
      </p:sp>
      <p:sp>
        <p:nvSpPr>
          <p:cNvPr id="4" name="Internet access circle"/>
          <p:cNvSpPr/>
          <p:nvPr/>
        </p:nvSpPr>
        <p:spPr>
          <a:xfrm>
            <a:off x="822960" y="1828800"/>
            <a:ext cx="914400" cy="914400"/>
          </a:xfrm>
          <a:prstGeom prst="ellipse">
            <a:avLst/>
          </a:prstGeom>
          <a:solidFill>
            <a:schemeClr val="accent1"/>
          </a:solidFill>
          <a:ln w="12700">
            <a:solidFill>
              <a:schemeClr val="accent1"/>
            </a:solidFill>
            <a:prstDash val="solid"/>
          </a:ln>
        </p:spPr>
      </p:sp>
      <p:pic>
        <p:nvPicPr>
          <p:cNvPr id="5" name="Internet access icon" descr="Internet access">    </p:cNvPr>
          <p:cNvPicPr>
            <a:picLocks noChangeAspect="1"/>
          </p:cNvPicPr>
          <p:nvPr/>
        </p:nvPicPr>
        <p:blipFill>
          <a:blip r:embed="rId1"/>
          <a:stretch>
            <a:fillRect/>
          </a:stretch>
        </p:blipFill>
        <p:spPr>
          <a:xfrm>
            <a:off x="1051560" y="2057400"/>
            <a:ext cx="457200" cy="457200"/>
          </a:xfrm>
          <a:prstGeom prst="rect">
            <a:avLst/>
          </a:prstGeom>
        </p:spPr>
      </p:pic>
      <p:sp>
        <p:nvSpPr>
          <p:cNvPr id="6" name="Text 3"/>
          <p:cNvSpPr txBox="1"/>
          <p:nvPr/>
        </p:nvSpPr>
        <p:spPr>
          <a:xfrm>
            <a:off x="822960" y="2971800"/>
            <a:ext cx="2103120" cy="822960"/>
          </a:xfrm>
          <a:prstGeom prst="rect">
            <a:avLst/>
          </a:prstGeom>
          <a:noFill/>
          <a:ln/>
        </p:spPr>
        <p:txBody>
          <a:bodyPr wrap="square" lIns="0" tIns="0" rIns="0" bIns="0" rtlCol="0" anchor="t"/>
          <a:lstStyle/>
          <a:p>
            <a:pPr indent="0" marL="0">
              <a:buNone/>
            </a:pPr>
            <a:r>
              <a:rPr lang="en-US" sz="2000" b="1" dirty="0">
                <a:solidFill>
                  <a:schemeClr val="tx2"/>
                </a:solidFill>
              </a:rPr>
              <a:t>Internet access</a:t>
            </a:r>
            <a:endParaRPr lang="en-US" sz="2000" dirty="0"/>
          </a:p>
        </p:txBody>
      </p:sp>
      <p:sp>
        <p:nvSpPr>
          <p:cNvPr id="7" name="Text 4"/>
          <p:cNvSpPr txBox="1"/>
          <p:nvPr/>
        </p:nvSpPr>
        <p:spPr>
          <a:xfrm>
            <a:off x="822960" y="3840480"/>
            <a:ext cx="2103120" cy="1737360"/>
          </a:xfrm>
          <a:prstGeom prst="rect">
            <a:avLst/>
          </a:prstGeom>
          <a:noFill/>
          <a:ln/>
        </p:spPr>
        <p:txBody>
          <a:bodyPr wrap="square" lIns="0" tIns="0" rIns="0" bIns="0" rtlCol="0" anchor="t"/>
          <a:lstStyle/>
          <a:p>
            <a:pPr indent="0" marL="0">
              <a:buNone/>
            </a:pPr>
            <a:r>
              <a:rPr lang="en-US" sz="1500" dirty="0">
                <a:solidFill>
                  <a:schemeClr val="tx1"/>
                </a:solidFill>
              </a:rPr>
              <a:t>A phone, tablet or computer is fine.</a:t>
            </a:r>
            <a:endParaRPr lang="en-US" sz="1500" dirty="0"/>
          </a:p>
        </p:txBody>
      </p:sp>
      <p:sp>
        <p:nvSpPr>
          <p:cNvPr id="8" name="Need card 2"/>
          <p:cNvSpPr/>
          <p:nvPr/>
        </p:nvSpPr>
        <p:spPr>
          <a:xfrm>
            <a:off x="3383280" y="1554480"/>
            <a:ext cx="2606040" cy="3566160"/>
          </a:xfrm>
          <a:prstGeom prst="roundRect">
            <a:avLst>
              <a:gd name="adj" fmla="val 4211"/>
            </a:avLst>
          </a:prstGeom>
          <a:solidFill>
            <a:schemeClr val="bg2"/>
          </a:solidFill>
          <a:ln w="12700">
            <a:solidFill>
              <a:schemeClr val="bg2"/>
            </a:solidFill>
            <a:prstDash val="solid"/>
          </a:ln>
        </p:spPr>
      </p:sp>
      <p:sp>
        <p:nvSpPr>
          <p:cNvPr id="9" name="A free AI account circle"/>
          <p:cNvSpPr/>
          <p:nvPr/>
        </p:nvSpPr>
        <p:spPr>
          <a:xfrm>
            <a:off x="3657600" y="1828800"/>
            <a:ext cx="914400" cy="914400"/>
          </a:xfrm>
          <a:prstGeom prst="ellipse">
            <a:avLst/>
          </a:prstGeom>
          <a:solidFill>
            <a:schemeClr val="accent1"/>
          </a:solidFill>
          <a:ln w="12700">
            <a:solidFill>
              <a:schemeClr val="accent1"/>
            </a:solidFill>
            <a:prstDash val="solid"/>
          </a:ln>
        </p:spPr>
      </p:sp>
      <p:pic>
        <p:nvPicPr>
          <p:cNvPr id="10" name="A free AI account icon" descr="A free AI account">    </p:cNvPr>
          <p:cNvPicPr>
            <a:picLocks noChangeAspect="1"/>
          </p:cNvPicPr>
          <p:nvPr/>
        </p:nvPicPr>
        <p:blipFill>
          <a:blip r:embed="rId2"/>
          <a:stretch>
            <a:fillRect/>
          </a:stretch>
        </p:blipFill>
        <p:spPr>
          <a:xfrm>
            <a:off x="3886200" y="2057400"/>
            <a:ext cx="457200" cy="457200"/>
          </a:xfrm>
          <a:prstGeom prst="rect">
            <a:avLst/>
          </a:prstGeom>
        </p:spPr>
      </p:pic>
      <p:sp>
        <p:nvSpPr>
          <p:cNvPr id="11" name="Text 7"/>
          <p:cNvSpPr txBox="1"/>
          <p:nvPr/>
        </p:nvSpPr>
        <p:spPr>
          <a:xfrm>
            <a:off x="3657600" y="2971800"/>
            <a:ext cx="2103120" cy="822960"/>
          </a:xfrm>
          <a:prstGeom prst="rect">
            <a:avLst/>
          </a:prstGeom>
          <a:noFill/>
          <a:ln/>
        </p:spPr>
        <p:txBody>
          <a:bodyPr wrap="square" lIns="0" tIns="0" rIns="0" bIns="0" rtlCol="0" anchor="t"/>
          <a:lstStyle/>
          <a:p>
            <a:pPr indent="0" marL="0">
              <a:buNone/>
            </a:pPr>
            <a:r>
              <a:rPr lang="en-US" sz="2000" b="1" dirty="0">
                <a:solidFill>
                  <a:schemeClr val="tx2"/>
                </a:solidFill>
              </a:rPr>
              <a:t>A free AI account</a:t>
            </a:r>
            <a:endParaRPr lang="en-US" sz="2000" dirty="0"/>
          </a:p>
        </p:txBody>
      </p:sp>
      <p:sp>
        <p:nvSpPr>
          <p:cNvPr id="12" name="Text 8"/>
          <p:cNvSpPr txBox="1"/>
          <p:nvPr/>
        </p:nvSpPr>
        <p:spPr>
          <a:xfrm>
            <a:off x="3657600" y="3840480"/>
            <a:ext cx="2103120" cy="1737360"/>
          </a:xfrm>
          <a:prstGeom prst="rect">
            <a:avLst/>
          </a:prstGeom>
          <a:noFill/>
          <a:ln/>
        </p:spPr>
        <p:txBody>
          <a:bodyPr wrap="square" lIns="0" tIns="0" rIns="0" bIns="0" rtlCol="0" anchor="t"/>
          <a:lstStyle/>
          <a:p>
            <a:pPr indent="0" marL="0">
              <a:buNone/>
            </a:pPr>
            <a:r>
              <a:rPr lang="en-US" sz="1500" dirty="0">
                <a:solidFill>
                  <a:schemeClr val="tx1"/>
                </a:solidFill>
              </a:rPr>
              <a:t>Claude, ChatGPT, Gemini, Copilot, DeepSeek or Grok. Free plans can work.</a:t>
            </a:r>
            <a:endParaRPr lang="en-US" sz="1500" dirty="0"/>
          </a:p>
        </p:txBody>
      </p:sp>
      <p:sp>
        <p:nvSpPr>
          <p:cNvPr id="13" name="Need card 3"/>
          <p:cNvSpPr/>
          <p:nvPr/>
        </p:nvSpPr>
        <p:spPr>
          <a:xfrm>
            <a:off x="6217920" y="1554480"/>
            <a:ext cx="2606040" cy="3566160"/>
          </a:xfrm>
          <a:prstGeom prst="roundRect">
            <a:avLst>
              <a:gd name="adj" fmla="val 4211"/>
            </a:avLst>
          </a:prstGeom>
          <a:solidFill>
            <a:schemeClr val="bg2"/>
          </a:solidFill>
          <a:ln w="12700">
            <a:solidFill>
              <a:schemeClr val="bg2"/>
            </a:solidFill>
            <a:prstDash val="solid"/>
          </a:ln>
        </p:spPr>
      </p:sp>
      <p:sp>
        <p:nvSpPr>
          <p:cNvPr id="14" name="Web search switched on circle"/>
          <p:cNvSpPr/>
          <p:nvPr/>
        </p:nvSpPr>
        <p:spPr>
          <a:xfrm>
            <a:off x="6492240" y="1828800"/>
            <a:ext cx="914400" cy="914400"/>
          </a:xfrm>
          <a:prstGeom prst="ellipse">
            <a:avLst/>
          </a:prstGeom>
          <a:solidFill>
            <a:schemeClr val="accent1"/>
          </a:solidFill>
          <a:ln w="12700">
            <a:solidFill>
              <a:schemeClr val="accent1"/>
            </a:solidFill>
            <a:prstDash val="solid"/>
          </a:ln>
        </p:spPr>
      </p:sp>
      <p:pic>
        <p:nvPicPr>
          <p:cNvPr id="15" name="Web search switched on icon" descr="Web search switched on">    </p:cNvPr>
          <p:cNvPicPr>
            <a:picLocks noChangeAspect="1"/>
          </p:cNvPicPr>
          <p:nvPr/>
        </p:nvPicPr>
        <p:blipFill>
          <a:blip r:embed="rId3"/>
          <a:stretch>
            <a:fillRect/>
          </a:stretch>
        </p:blipFill>
        <p:spPr>
          <a:xfrm>
            <a:off x="6720840" y="2057400"/>
            <a:ext cx="457200" cy="457200"/>
          </a:xfrm>
          <a:prstGeom prst="rect">
            <a:avLst/>
          </a:prstGeom>
        </p:spPr>
      </p:pic>
      <p:sp>
        <p:nvSpPr>
          <p:cNvPr id="16" name="Text 11"/>
          <p:cNvSpPr txBox="1"/>
          <p:nvPr/>
        </p:nvSpPr>
        <p:spPr>
          <a:xfrm>
            <a:off x="6492240" y="2971800"/>
            <a:ext cx="2103120" cy="822960"/>
          </a:xfrm>
          <a:prstGeom prst="rect">
            <a:avLst/>
          </a:prstGeom>
          <a:noFill/>
          <a:ln/>
        </p:spPr>
        <p:txBody>
          <a:bodyPr wrap="square" lIns="0" tIns="0" rIns="0" bIns="0" rtlCol="0" anchor="t"/>
          <a:lstStyle/>
          <a:p>
            <a:pPr indent="0" marL="0">
              <a:buNone/>
            </a:pPr>
            <a:r>
              <a:rPr lang="en-US" sz="2000" b="1" dirty="0">
                <a:solidFill>
                  <a:schemeClr val="tx2"/>
                </a:solidFill>
              </a:rPr>
              <a:t>Web search switched on</a:t>
            </a:r>
            <a:endParaRPr lang="en-US" sz="2000" dirty="0"/>
          </a:p>
        </p:txBody>
      </p:sp>
      <p:sp>
        <p:nvSpPr>
          <p:cNvPr id="17" name="Text 12"/>
          <p:cNvSpPr txBox="1"/>
          <p:nvPr/>
        </p:nvSpPr>
        <p:spPr>
          <a:xfrm>
            <a:off x="6492240" y="3840480"/>
            <a:ext cx="2103120" cy="1737360"/>
          </a:xfrm>
          <a:prstGeom prst="rect">
            <a:avLst/>
          </a:prstGeom>
          <a:noFill/>
          <a:ln/>
        </p:spPr>
        <p:txBody>
          <a:bodyPr wrap="square" lIns="0" tIns="0" rIns="0" bIns="0" rtlCol="0" anchor="t"/>
          <a:lstStyle/>
          <a:p>
            <a:pPr indent="0" marL="0">
              <a:buNone/>
            </a:pPr>
            <a:r>
              <a:rPr lang="en-US" sz="1500" dirty="0">
                <a:solidFill>
                  <a:schemeClr val="tx1"/>
                </a:solidFill>
              </a:rPr>
              <a:t>So the AI can find live opportunities. Without it, paste adverts in yourself.</a:t>
            </a:r>
            <a:endParaRPr lang="en-US" sz="1500" dirty="0"/>
          </a:p>
        </p:txBody>
      </p:sp>
      <p:sp>
        <p:nvSpPr>
          <p:cNvPr id="18" name="Need card 4"/>
          <p:cNvSpPr/>
          <p:nvPr/>
        </p:nvSpPr>
        <p:spPr>
          <a:xfrm>
            <a:off x="9052560" y="1554480"/>
            <a:ext cx="2606040" cy="3566160"/>
          </a:xfrm>
          <a:prstGeom prst="roundRect">
            <a:avLst>
              <a:gd name="adj" fmla="val 4211"/>
            </a:avLst>
          </a:prstGeom>
          <a:solidFill>
            <a:schemeClr val="bg2"/>
          </a:solidFill>
          <a:ln w="12700">
            <a:solidFill>
              <a:schemeClr val="bg2"/>
            </a:solidFill>
            <a:prstDash val="solid"/>
          </a:ln>
        </p:spPr>
      </p:sp>
      <p:sp>
        <p:nvSpPr>
          <p:cNvPr id="19" name="About 15 minutes circle"/>
          <p:cNvSpPr/>
          <p:nvPr/>
        </p:nvSpPr>
        <p:spPr>
          <a:xfrm>
            <a:off x="9326880" y="1828800"/>
            <a:ext cx="914400" cy="914400"/>
          </a:xfrm>
          <a:prstGeom prst="ellipse">
            <a:avLst/>
          </a:prstGeom>
          <a:solidFill>
            <a:schemeClr val="accent1"/>
          </a:solidFill>
          <a:ln w="12700">
            <a:solidFill>
              <a:schemeClr val="accent1"/>
            </a:solidFill>
            <a:prstDash val="solid"/>
          </a:ln>
        </p:spPr>
      </p:sp>
      <p:pic>
        <p:nvPicPr>
          <p:cNvPr id="20" name="About 15 minutes icon" descr="About 15 minutes">    </p:cNvPr>
          <p:cNvPicPr>
            <a:picLocks noChangeAspect="1"/>
          </p:cNvPicPr>
          <p:nvPr/>
        </p:nvPicPr>
        <p:blipFill>
          <a:blip r:embed="rId4"/>
          <a:stretch>
            <a:fillRect/>
          </a:stretch>
        </p:blipFill>
        <p:spPr>
          <a:xfrm>
            <a:off x="9555480" y="2057400"/>
            <a:ext cx="457200" cy="457200"/>
          </a:xfrm>
          <a:prstGeom prst="rect">
            <a:avLst/>
          </a:prstGeom>
        </p:spPr>
      </p:pic>
      <p:sp>
        <p:nvSpPr>
          <p:cNvPr id="21" name="Text 15"/>
          <p:cNvSpPr txBox="1"/>
          <p:nvPr/>
        </p:nvSpPr>
        <p:spPr>
          <a:xfrm>
            <a:off x="9326880" y="2971800"/>
            <a:ext cx="2103120" cy="822960"/>
          </a:xfrm>
          <a:prstGeom prst="rect">
            <a:avLst/>
          </a:prstGeom>
          <a:noFill/>
          <a:ln/>
        </p:spPr>
        <p:txBody>
          <a:bodyPr wrap="square" lIns="0" tIns="0" rIns="0" bIns="0" rtlCol="0" anchor="t"/>
          <a:lstStyle/>
          <a:p>
            <a:pPr indent="0" marL="0">
              <a:buNone/>
            </a:pPr>
            <a:r>
              <a:rPr lang="en-US" sz="2000" b="1" dirty="0">
                <a:solidFill>
                  <a:schemeClr val="tx2"/>
                </a:solidFill>
              </a:rPr>
              <a:t>About 15 minutes</a:t>
            </a:r>
            <a:endParaRPr lang="en-US" sz="2000" dirty="0"/>
          </a:p>
        </p:txBody>
      </p:sp>
      <p:sp>
        <p:nvSpPr>
          <p:cNvPr id="22" name="Text 16"/>
          <p:cNvSpPr txBox="1"/>
          <p:nvPr/>
        </p:nvSpPr>
        <p:spPr>
          <a:xfrm>
            <a:off x="9326880" y="3840480"/>
            <a:ext cx="2103120" cy="1737360"/>
          </a:xfrm>
          <a:prstGeom prst="rect">
            <a:avLst/>
          </a:prstGeom>
          <a:noFill/>
          <a:ln/>
        </p:spPr>
        <p:txBody>
          <a:bodyPr wrap="square" lIns="0" tIns="0" rIns="0" bIns="0" rtlCol="0" anchor="t"/>
          <a:lstStyle/>
          <a:p>
            <a:pPr indent="0" marL="0">
              <a:buNone/>
            </a:pPr>
            <a:r>
              <a:rPr lang="en-US" sz="1500" dirty="0">
                <a:solidFill>
                  <a:schemeClr val="tx1"/>
                </a:solidFill>
              </a:rPr>
              <a:t>For the first-time interview. After that, about 10 minutes a day.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Get the prompt</a:t>
            </a:r>
            <a:endParaRPr lang="en-US" sz="3600" dirty="0"/>
          </a:p>
        </p:txBody>
      </p:sp>
      <p:sp>
        <p:nvSpPr>
          <p:cNvPr id="3" name="Step number circle"/>
          <p:cNvSpPr/>
          <p:nvPr/>
        </p:nvSpPr>
        <p:spPr>
          <a:xfrm>
            <a:off x="548640" y="1554480"/>
            <a:ext cx="1188720" cy="1188720"/>
          </a:xfrm>
          <a:prstGeom prst="ellipse">
            <a:avLst/>
          </a:prstGeom>
          <a:solidFill>
            <a:schemeClr val="accent1"/>
          </a:solidFill>
          <a:ln w="12700">
            <a:solidFill>
              <a:schemeClr val="accent1"/>
            </a:solidFill>
            <a:prstDash val="solid"/>
          </a:ln>
        </p:spPr>
      </p:sp>
      <p:sp>
        <p:nvSpPr>
          <p:cNvPr id="4" name="Text 2"/>
          <p:cNvSpPr txBox="1"/>
          <p:nvPr/>
        </p:nvSpPr>
        <p:spPr>
          <a:xfrm>
            <a:off x="548640" y="1554480"/>
            <a:ext cx="1188720" cy="1188720"/>
          </a:xfrm>
          <a:prstGeom prst="rect">
            <a:avLst/>
          </a:prstGeom>
          <a:noFill/>
          <a:ln/>
        </p:spPr>
        <p:txBody>
          <a:bodyPr wrap="square" lIns="0" tIns="0" rIns="0" bIns="0" rtlCol="0" anchor="ctr"/>
          <a:lstStyle/>
          <a:p>
            <a:pPr algn="ctr" indent="0" marL="0">
              <a:buNone/>
            </a:pPr>
            <a:r>
              <a:rPr lang="en-US" sz="4400" b="1" dirty="0">
                <a:solidFill>
                  <a:schemeClr val="bg1"/>
                </a:solidFill>
                <a:latin typeface="Cambria" pitchFamily="34" charset="0"/>
                <a:ea typeface="Cambria" pitchFamily="34" charset="-122"/>
                <a:cs typeface="Cambria" pitchFamily="34" charset="-120"/>
              </a:rPr>
              <a:t>1</a:t>
            </a:r>
            <a:endParaRPr lang="en-US" sz="4400" dirty="0"/>
          </a:p>
        </p:txBody>
      </p:sp>
      <p:sp>
        <p:nvSpPr>
          <p:cNvPr id="5" name="Text 3"/>
          <p:cNvSpPr txBox="1"/>
          <p:nvPr/>
        </p:nvSpPr>
        <p:spPr>
          <a:xfrm>
            <a:off x="548640" y="2880360"/>
            <a:ext cx="1463040" cy="320040"/>
          </a:xfrm>
          <a:prstGeom prst="rect">
            <a:avLst/>
          </a:prstGeom>
          <a:noFill/>
          <a:ln/>
        </p:spPr>
        <p:txBody>
          <a:bodyPr wrap="square" lIns="0" tIns="0" rIns="0" bIns="0" rtlCol="0" anchor="t"/>
          <a:lstStyle/>
          <a:p>
            <a:pPr indent="0" marL="0">
              <a:buNone/>
            </a:pPr>
            <a:r>
              <a:rPr lang="en-US" sz="1200" b="1" spc="100" kern="0" dirty="0">
                <a:solidFill>
                  <a:schemeClr val="accent1"/>
                </a:solidFill>
              </a:rPr>
              <a:t>STEP 1 OF 6</a:t>
            </a:r>
            <a:endParaRPr lang="en-US" sz="1200" dirty="0"/>
          </a:p>
        </p:txBody>
      </p:sp>
      <p:sp>
        <p:nvSpPr>
          <p:cNvPr id="6" name="Text 4"/>
          <p:cNvSpPr txBox="1"/>
          <p:nvPr/>
        </p:nvSpPr>
        <p:spPr>
          <a:xfrm>
            <a:off x="2194560" y="1554480"/>
            <a:ext cx="4846320" cy="438912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800" dirty="0">
                <a:solidFill>
                  <a:schemeClr val="tx1"/>
                </a:solidFill>
              </a:rPr>
              <a:t>Open the GitHub page (link on the last slide).</a:t>
            </a:r>
            <a:endParaRPr lang="en-US" sz="1800" dirty="0"/>
          </a:p>
          <a:p>
            <a:pPr marL="342900" indent="-342900">
              <a:spcAft>
                <a:spcPts val="1200"/>
              </a:spcAft>
              <a:buSzPct val="100000"/>
              <a:buFont typeface="+mj-lt"/>
              <a:buAutoNum type="arabicPeriod" startAt="1"/>
            </a:pPr>
            <a:r>
              <a:rPr lang="en-US" sz="1800" dirty="0">
                <a:solidFill>
                  <a:schemeClr val="tx1"/>
                </a:solidFill>
              </a:rPr>
              <a:t>Click master-job-search-prompt.md.</a:t>
            </a:r>
            <a:endParaRPr lang="en-US" sz="1800" dirty="0"/>
          </a:p>
          <a:p>
            <a:pPr marL="342900" indent="-342900">
              <a:spcAft>
                <a:spcPts val="1200"/>
              </a:spcAft>
              <a:buSzPct val="100000"/>
              <a:buFont typeface="+mj-lt"/>
              <a:buAutoNum type="arabicPeriod" startAt="1"/>
            </a:pPr>
            <a:r>
              <a:rPr lang="en-US" sz="1800" dirty="0">
                <a:solidFill>
                  <a:schemeClr val="tx1"/>
                </a:solidFill>
              </a:rPr>
              <a:t>Click "Copy raw file" (the copy icon at the top right). The whole prompt is now copied.</a:t>
            </a:r>
            <a:endParaRPr lang="en-US" sz="1800" dirty="0"/>
          </a:p>
        </p:txBody>
      </p:sp>
      <p:sp>
        <p:nvSpPr>
          <p:cNvPr id="7" name="Tip card"/>
          <p:cNvSpPr/>
          <p:nvPr/>
        </p:nvSpPr>
        <p:spPr>
          <a:xfrm>
            <a:off x="7406640" y="1554480"/>
            <a:ext cx="4206240" cy="3566160"/>
          </a:xfrm>
          <a:prstGeom prst="roundRect">
            <a:avLst>
              <a:gd name="adj" fmla="val 3077"/>
            </a:avLst>
          </a:prstGeom>
          <a:solidFill>
            <a:schemeClr val="bg2"/>
          </a:solidFill>
          <a:ln w="12700">
            <a:solidFill>
              <a:schemeClr val="bg2"/>
            </a:solidFill>
            <a:prstDash val="solid"/>
          </a:ln>
        </p:spPr>
      </p:sp>
      <p:sp>
        <p:nvSpPr>
          <p:cNvPr id="8" name="Tip circle"/>
          <p:cNvSpPr/>
          <p:nvPr/>
        </p:nvSpPr>
        <p:spPr>
          <a:xfrm>
            <a:off x="7726680" y="1828800"/>
            <a:ext cx="731520" cy="731520"/>
          </a:xfrm>
          <a:prstGeom prst="ellipse">
            <a:avLst/>
          </a:prstGeom>
          <a:solidFill>
            <a:schemeClr val="accent2"/>
          </a:solidFill>
          <a:ln w="12700">
            <a:solidFill>
              <a:schemeClr val="accent2"/>
            </a:solidFill>
            <a:prstDash val="solid"/>
          </a:ln>
        </p:spPr>
      </p:sp>
      <p:pic>
        <p:nvPicPr>
          <p:cNvPr id="9" name="Tip icon" descr="Tip">    </p:cNvPr>
          <p:cNvPicPr>
            <a:picLocks noChangeAspect="1"/>
          </p:cNvPicPr>
          <p:nvPr/>
        </p:nvPicPr>
        <p:blipFill>
          <a:blip r:embed="rId1"/>
          <a:stretch>
            <a:fillRect/>
          </a:stretch>
        </p:blipFill>
        <p:spPr>
          <a:xfrm>
            <a:off x="7909560" y="2011680"/>
            <a:ext cx="365760" cy="365760"/>
          </a:xfrm>
          <a:prstGeom prst="rect">
            <a:avLst/>
          </a:prstGeom>
        </p:spPr>
      </p:pic>
      <p:sp>
        <p:nvSpPr>
          <p:cNvPr id="10" name="Text 7"/>
          <p:cNvSpPr txBox="1"/>
          <p:nvPr/>
        </p:nvSpPr>
        <p:spPr>
          <a:xfrm>
            <a:off x="7726680" y="2743200"/>
            <a:ext cx="3611880" cy="219456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Tip</a:t>
            </a:r>
            <a:endParaRPr lang="en-US" sz="1600" dirty="0"/>
          </a:p>
          <a:p>
            <a:pPr indent="0" marL="0">
              <a:spcAft>
                <a:spcPts val="800"/>
              </a:spcAft>
              <a:buNone/>
            </a:pPr>
            <a:r>
              <a:rPr lang="en-US" sz="1600" dirty="0">
                <a:solidFill>
                  <a:schemeClr val="tx1"/>
                </a:solidFill>
              </a:rPr>
              <a:t>You don't need a GitHub account to copy it. Prefer to fill in your details yourself? Use quick-template-prompt.md instead.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Paste it and answer the interview</a:t>
            </a:r>
            <a:endParaRPr lang="en-US" sz="3600" dirty="0"/>
          </a:p>
        </p:txBody>
      </p:sp>
      <p:sp>
        <p:nvSpPr>
          <p:cNvPr id="3" name="Step number circle"/>
          <p:cNvSpPr/>
          <p:nvPr/>
        </p:nvSpPr>
        <p:spPr>
          <a:xfrm>
            <a:off x="548640" y="1554480"/>
            <a:ext cx="1188720" cy="1188720"/>
          </a:xfrm>
          <a:prstGeom prst="ellipse">
            <a:avLst/>
          </a:prstGeom>
          <a:solidFill>
            <a:schemeClr val="accent1"/>
          </a:solidFill>
          <a:ln w="12700">
            <a:solidFill>
              <a:schemeClr val="accent1"/>
            </a:solidFill>
            <a:prstDash val="solid"/>
          </a:ln>
        </p:spPr>
      </p:sp>
      <p:sp>
        <p:nvSpPr>
          <p:cNvPr id="4" name="Text 2"/>
          <p:cNvSpPr txBox="1"/>
          <p:nvPr/>
        </p:nvSpPr>
        <p:spPr>
          <a:xfrm>
            <a:off x="548640" y="1554480"/>
            <a:ext cx="1188720" cy="1188720"/>
          </a:xfrm>
          <a:prstGeom prst="rect">
            <a:avLst/>
          </a:prstGeom>
          <a:noFill/>
          <a:ln/>
        </p:spPr>
        <p:txBody>
          <a:bodyPr wrap="square" lIns="0" tIns="0" rIns="0" bIns="0" rtlCol="0" anchor="ctr"/>
          <a:lstStyle/>
          <a:p>
            <a:pPr algn="ctr" indent="0" marL="0">
              <a:buNone/>
            </a:pPr>
            <a:r>
              <a:rPr lang="en-US" sz="4400" b="1" dirty="0">
                <a:solidFill>
                  <a:schemeClr val="bg1"/>
                </a:solidFill>
                <a:latin typeface="Cambria" pitchFamily="34" charset="0"/>
                <a:ea typeface="Cambria" pitchFamily="34" charset="-122"/>
                <a:cs typeface="Cambria" pitchFamily="34" charset="-120"/>
              </a:rPr>
              <a:t>2</a:t>
            </a:r>
            <a:endParaRPr lang="en-US" sz="4400" dirty="0"/>
          </a:p>
        </p:txBody>
      </p:sp>
      <p:sp>
        <p:nvSpPr>
          <p:cNvPr id="5" name="Text 3"/>
          <p:cNvSpPr txBox="1"/>
          <p:nvPr/>
        </p:nvSpPr>
        <p:spPr>
          <a:xfrm>
            <a:off x="548640" y="2880360"/>
            <a:ext cx="1463040" cy="320040"/>
          </a:xfrm>
          <a:prstGeom prst="rect">
            <a:avLst/>
          </a:prstGeom>
          <a:noFill/>
          <a:ln/>
        </p:spPr>
        <p:txBody>
          <a:bodyPr wrap="square" lIns="0" tIns="0" rIns="0" bIns="0" rtlCol="0" anchor="t"/>
          <a:lstStyle/>
          <a:p>
            <a:pPr indent="0" marL="0">
              <a:buNone/>
            </a:pPr>
            <a:r>
              <a:rPr lang="en-US" sz="1200" b="1" spc="100" kern="0" dirty="0">
                <a:solidFill>
                  <a:schemeClr val="accent1"/>
                </a:solidFill>
              </a:rPr>
              <a:t>STEP 2 OF 6</a:t>
            </a:r>
            <a:endParaRPr lang="en-US" sz="1200" dirty="0"/>
          </a:p>
        </p:txBody>
      </p:sp>
      <p:sp>
        <p:nvSpPr>
          <p:cNvPr id="6" name="Text 4"/>
          <p:cNvSpPr txBox="1"/>
          <p:nvPr/>
        </p:nvSpPr>
        <p:spPr>
          <a:xfrm>
            <a:off x="2194560" y="1554480"/>
            <a:ext cx="4846320" cy="438912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800" dirty="0">
                <a:solidFill>
                  <a:schemeClr val="tx1"/>
                </a:solidFill>
              </a:rPr>
              <a:t>Open your AI assistant and start a new chat.</a:t>
            </a:r>
            <a:endParaRPr lang="en-US" sz="1800" dirty="0"/>
          </a:p>
          <a:p>
            <a:pPr marL="342900" indent="-342900">
              <a:spcAft>
                <a:spcPts val="1200"/>
              </a:spcAft>
              <a:buSzPct val="100000"/>
              <a:buFont typeface="+mj-lt"/>
              <a:buAutoNum type="arabicPeriod" startAt="1"/>
            </a:pPr>
            <a:r>
              <a:rPr lang="en-US" sz="1800" dirty="0">
                <a:solidFill>
                  <a:schemeClr val="tx1"/>
                </a:solidFill>
              </a:rPr>
              <a:t>Switch on web search if you can.</a:t>
            </a:r>
            <a:endParaRPr lang="en-US" sz="1800" dirty="0"/>
          </a:p>
          <a:p>
            <a:pPr marL="342900" indent="-342900">
              <a:spcAft>
                <a:spcPts val="1200"/>
              </a:spcAft>
              <a:buSzPct val="100000"/>
              <a:buFont typeface="+mj-lt"/>
              <a:buAutoNum type="arabicPeriod" startAt="1"/>
            </a:pPr>
            <a:r>
              <a:rPr lang="en-US" sz="1800" dirty="0">
                <a:solidFill>
                  <a:schemeClr val="tx1"/>
                </a:solidFill>
              </a:rPr>
              <a:t>Paste the prompt and press Enter.</a:t>
            </a:r>
            <a:endParaRPr lang="en-US" sz="1800" dirty="0"/>
          </a:p>
          <a:p>
            <a:pPr marL="342900" indent="-342900">
              <a:spcAft>
                <a:spcPts val="1200"/>
              </a:spcAft>
              <a:buSzPct val="100000"/>
              <a:buFont typeface="+mj-lt"/>
              <a:buAutoNum type="arabicPeriod" startAt="1"/>
            </a:pPr>
            <a:r>
              <a:rPr lang="en-US" sz="1800" dirty="0">
                <a:solidFill>
                  <a:schemeClr val="tx1"/>
                </a:solidFill>
              </a:rPr>
              <a:t>Answer the short questions, a few at a time. About 25 in total, around 15 minutes.</a:t>
            </a:r>
            <a:endParaRPr lang="en-US" sz="1800" dirty="0"/>
          </a:p>
        </p:txBody>
      </p:sp>
      <p:sp>
        <p:nvSpPr>
          <p:cNvPr id="7" name="Tip card"/>
          <p:cNvSpPr/>
          <p:nvPr/>
        </p:nvSpPr>
        <p:spPr>
          <a:xfrm>
            <a:off x="7406640" y="1554480"/>
            <a:ext cx="4206240" cy="3566160"/>
          </a:xfrm>
          <a:prstGeom prst="roundRect">
            <a:avLst>
              <a:gd name="adj" fmla="val 3077"/>
            </a:avLst>
          </a:prstGeom>
          <a:solidFill>
            <a:schemeClr val="bg2"/>
          </a:solidFill>
          <a:ln w="12700">
            <a:solidFill>
              <a:schemeClr val="bg2"/>
            </a:solidFill>
            <a:prstDash val="solid"/>
          </a:ln>
        </p:spPr>
      </p:sp>
      <p:sp>
        <p:nvSpPr>
          <p:cNvPr id="8" name="Tip circle"/>
          <p:cNvSpPr/>
          <p:nvPr/>
        </p:nvSpPr>
        <p:spPr>
          <a:xfrm>
            <a:off x="7726680" y="1828800"/>
            <a:ext cx="731520" cy="731520"/>
          </a:xfrm>
          <a:prstGeom prst="ellipse">
            <a:avLst/>
          </a:prstGeom>
          <a:solidFill>
            <a:schemeClr val="accent2"/>
          </a:solidFill>
          <a:ln w="12700">
            <a:solidFill>
              <a:schemeClr val="accent2"/>
            </a:solidFill>
            <a:prstDash val="solid"/>
          </a:ln>
        </p:spPr>
      </p:sp>
      <p:pic>
        <p:nvPicPr>
          <p:cNvPr id="9" name="Tip icon" descr="Tip">    </p:cNvPr>
          <p:cNvPicPr>
            <a:picLocks noChangeAspect="1"/>
          </p:cNvPicPr>
          <p:nvPr/>
        </p:nvPicPr>
        <p:blipFill>
          <a:blip r:embed="rId1"/>
          <a:stretch>
            <a:fillRect/>
          </a:stretch>
        </p:blipFill>
        <p:spPr>
          <a:xfrm>
            <a:off x="7909560" y="2011680"/>
            <a:ext cx="365760" cy="365760"/>
          </a:xfrm>
          <a:prstGeom prst="rect">
            <a:avLst/>
          </a:prstGeom>
        </p:spPr>
      </p:pic>
      <p:sp>
        <p:nvSpPr>
          <p:cNvPr id="10" name="Text 7"/>
          <p:cNvSpPr txBox="1"/>
          <p:nvPr/>
        </p:nvSpPr>
        <p:spPr>
          <a:xfrm>
            <a:off x="7726680" y="2743200"/>
            <a:ext cx="3611880" cy="219456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Only share what you need</a:t>
            </a:r>
            <a:endParaRPr lang="en-US" sz="1600" dirty="0"/>
          </a:p>
          <a:p>
            <a:pPr indent="0" marL="0">
              <a:spcAft>
                <a:spcPts val="800"/>
              </a:spcAft>
              <a:buNone/>
            </a:pPr>
            <a:r>
              <a:rPr lang="en-US" sz="1600" dirty="0">
                <a:solidFill>
                  <a:schemeClr val="tx1"/>
                </a:solidFill>
              </a:rPr>
              <a:t>Contact details are optional until you want documents. Never share passwords, bank details or ID numbers. You can paste your CV to save time: remove ID numbers first.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Save your profile privately</a:t>
            </a:r>
            <a:endParaRPr lang="en-US" sz="3600" dirty="0"/>
          </a:p>
        </p:txBody>
      </p:sp>
      <p:sp>
        <p:nvSpPr>
          <p:cNvPr id="3" name="Step number circle"/>
          <p:cNvSpPr/>
          <p:nvPr/>
        </p:nvSpPr>
        <p:spPr>
          <a:xfrm>
            <a:off x="548640" y="1554480"/>
            <a:ext cx="1188720" cy="1188720"/>
          </a:xfrm>
          <a:prstGeom prst="ellipse">
            <a:avLst/>
          </a:prstGeom>
          <a:solidFill>
            <a:schemeClr val="accent1"/>
          </a:solidFill>
          <a:ln w="12700">
            <a:solidFill>
              <a:schemeClr val="accent1"/>
            </a:solidFill>
            <a:prstDash val="solid"/>
          </a:ln>
        </p:spPr>
      </p:sp>
      <p:sp>
        <p:nvSpPr>
          <p:cNvPr id="4" name="Text 2"/>
          <p:cNvSpPr txBox="1"/>
          <p:nvPr/>
        </p:nvSpPr>
        <p:spPr>
          <a:xfrm>
            <a:off x="548640" y="1554480"/>
            <a:ext cx="1188720" cy="1188720"/>
          </a:xfrm>
          <a:prstGeom prst="rect">
            <a:avLst/>
          </a:prstGeom>
          <a:noFill/>
          <a:ln/>
        </p:spPr>
        <p:txBody>
          <a:bodyPr wrap="square" lIns="0" tIns="0" rIns="0" bIns="0" rtlCol="0" anchor="ctr"/>
          <a:lstStyle/>
          <a:p>
            <a:pPr algn="ctr" indent="0" marL="0">
              <a:buNone/>
            </a:pPr>
            <a:r>
              <a:rPr lang="en-US" sz="4400" b="1" dirty="0">
                <a:solidFill>
                  <a:schemeClr val="bg1"/>
                </a:solidFill>
                <a:latin typeface="Cambria" pitchFamily="34" charset="0"/>
                <a:ea typeface="Cambria" pitchFamily="34" charset="-122"/>
                <a:cs typeface="Cambria" pitchFamily="34" charset="-120"/>
              </a:rPr>
              <a:t>3</a:t>
            </a:r>
            <a:endParaRPr lang="en-US" sz="4400" dirty="0"/>
          </a:p>
        </p:txBody>
      </p:sp>
      <p:sp>
        <p:nvSpPr>
          <p:cNvPr id="5" name="Text 3"/>
          <p:cNvSpPr txBox="1"/>
          <p:nvPr/>
        </p:nvSpPr>
        <p:spPr>
          <a:xfrm>
            <a:off x="548640" y="2880360"/>
            <a:ext cx="1463040" cy="320040"/>
          </a:xfrm>
          <a:prstGeom prst="rect">
            <a:avLst/>
          </a:prstGeom>
          <a:noFill/>
          <a:ln/>
        </p:spPr>
        <p:txBody>
          <a:bodyPr wrap="square" lIns="0" tIns="0" rIns="0" bIns="0" rtlCol="0" anchor="t"/>
          <a:lstStyle/>
          <a:p>
            <a:pPr indent="0" marL="0">
              <a:buNone/>
            </a:pPr>
            <a:r>
              <a:rPr lang="en-US" sz="1200" b="1" spc="100" kern="0" dirty="0">
                <a:solidFill>
                  <a:schemeClr val="accent1"/>
                </a:solidFill>
              </a:rPr>
              <a:t>STEP 3 OF 6</a:t>
            </a:r>
            <a:endParaRPr lang="en-US" sz="1200" dirty="0"/>
          </a:p>
        </p:txBody>
      </p:sp>
      <p:sp>
        <p:nvSpPr>
          <p:cNvPr id="6" name="Text 4"/>
          <p:cNvSpPr txBox="1"/>
          <p:nvPr/>
        </p:nvSpPr>
        <p:spPr>
          <a:xfrm>
            <a:off x="2194560" y="1554480"/>
            <a:ext cx="4846320" cy="438912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800" dirty="0">
                <a:solidFill>
                  <a:schemeClr val="tx1"/>
                </a:solidFill>
              </a:rPr>
              <a:t>At the end, the AI writes MY PROFILE: a summary of your true details.</a:t>
            </a:r>
            <a:endParaRPr lang="en-US" sz="1800" dirty="0"/>
          </a:p>
          <a:p>
            <a:pPr marL="342900" indent="-342900">
              <a:spcAft>
                <a:spcPts val="1200"/>
              </a:spcAft>
              <a:buSzPct val="100000"/>
              <a:buFont typeface="+mj-lt"/>
              <a:buAutoNum type="arabicPeriod" startAt="1"/>
            </a:pPr>
            <a:r>
              <a:rPr lang="en-US" sz="1800" dirty="0">
                <a:solidFill>
                  <a:schemeClr val="tx1"/>
                </a:solidFill>
              </a:rPr>
              <a:t>Copy it into a private note or document on your device.</a:t>
            </a:r>
            <a:endParaRPr lang="en-US" sz="1800" dirty="0"/>
          </a:p>
          <a:p>
            <a:pPr marL="342900" indent="-342900">
              <a:spcAft>
                <a:spcPts val="1200"/>
              </a:spcAft>
              <a:buSzPct val="100000"/>
              <a:buFont typeface="+mj-lt"/>
              <a:buAutoNum type="arabicPeriod" startAt="1"/>
            </a:pPr>
            <a:r>
              <a:rPr lang="en-US" sz="1800" dirty="0">
                <a:solidFill>
                  <a:schemeClr val="tx1"/>
                </a:solidFill>
              </a:rPr>
              <a:t>Next time, paste the prompt plus your profile into a new chat.</a:t>
            </a:r>
            <a:endParaRPr lang="en-US" sz="1800" dirty="0"/>
          </a:p>
        </p:txBody>
      </p:sp>
      <p:sp>
        <p:nvSpPr>
          <p:cNvPr id="7" name="Tip card"/>
          <p:cNvSpPr/>
          <p:nvPr/>
        </p:nvSpPr>
        <p:spPr>
          <a:xfrm>
            <a:off x="7406640" y="1554480"/>
            <a:ext cx="4206240" cy="3566160"/>
          </a:xfrm>
          <a:prstGeom prst="roundRect">
            <a:avLst>
              <a:gd name="adj" fmla="val 3077"/>
            </a:avLst>
          </a:prstGeom>
          <a:solidFill>
            <a:schemeClr val="bg2"/>
          </a:solidFill>
          <a:ln w="12700">
            <a:solidFill>
              <a:schemeClr val="bg2"/>
            </a:solidFill>
            <a:prstDash val="solid"/>
          </a:ln>
        </p:spPr>
      </p:sp>
      <p:sp>
        <p:nvSpPr>
          <p:cNvPr id="8" name="Tip circle"/>
          <p:cNvSpPr/>
          <p:nvPr/>
        </p:nvSpPr>
        <p:spPr>
          <a:xfrm>
            <a:off x="7726680" y="1828800"/>
            <a:ext cx="731520" cy="731520"/>
          </a:xfrm>
          <a:prstGeom prst="ellipse">
            <a:avLst/>
          </a:prstGeom>
          <a:solidFill>
            <a:schemeClr val="accent2"/>
          </a:solidFill>
          <a:ln w="12700">
            <a:solidFill>
              <a:schemeClr val="accent2"/>
            </a:solidFill>
            <a:prstDash val="solid"/>
          </a:ln>
        </p:spPr>
      </p:sp>
      <p:pic>
        <p:nvPicPr>
          <p:cNvPr id="9" name="Tip icon" descr="Tip">    </p:cNvPr>
          <p:cNvPicPr>
            <a:picLocks noChangeAspect="1"/>
          </p:cNvPicPr>
          <p:nvPr/>
        </p:nvPicPr>
        <p:blipFill>
          <a:blip r:embed="rId1"/>
          <a:stretch>
            <a:fillRect/>
          </a:stretch>
        </p:blipFill>
        <p:spPr>
          <a:xfrm>
            <a:off x="7909560" y="2011680"/>
            <a:ext cx="365760" cy="365760"/>
          </a:xfrm>
          <a:prstGeom prst="rect">
            <a:avLst/>
          </a:prstGeom>
        </p:spPr>
      </p:pic>
      <p:sp>
        <p:nvSpPr>
          <p:cNvPr id="10" name="Text 7"/>
          <p:cNvSpPr txBox="1"/>
          <p:nvPr/>
        </p:nvSpPr>
        <p:spPr>
          <a:xfrm>
            <a:off x="7726680" y="2743200"/>
            <a:ext cx="3611880" cy="219456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Why this matters</a:t>
            </a:r>
            <a:endParaRPr lang="en-US" sz="1600" dirty="0"/>
          </a:p>
          <a:p>
            <a:pPr indent="0" marL="0">
              <a:spcAft>
                <a:spcPts val="800"/>
              </a:spcAft>
              <a:buNone/>
            </a:pPr>
            <a:r>
              <a:rPr lang="en-US" sz="1600" dirty="0">
                <a:solidFill>
                  <a:schemeClr val="tx1"/>
                </a:solidFill>
              </a:rPr>
              <a:t>Most AI chats forget everything between conversations. Your saved profile and tracker are its memory. Keep them private: never post them online.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Type a command to search</a:t>
            </a:r>
            <a:endParaRPr lang="en-US" sz="3600" dirty="0"/>
          </a:p>
        </p:txBody>
      </p:sp>
      <p:sp>
        <p:nvSpPr>
          <p:cNvPr id="3" name="Step number circle"/>
          <p:cNvSpPr/>
          <p:nvPr/>
        </p:nvSpPr>
        <p:spPr>
          <a:xfrm>
            <a:off x="548640" y="1554480"/>
            <a:ext cx="1188720" cy="1188720"/>
          </a:xfrm>
          <a:prstGeom prst="ellipse">
            <a:avLst/>
          </a:prstGeom>
          <a:solidFill>
            <a:schemeClr val="accent1"/>
          </a:solidFill>
          <a:ln w="12700">
            <a:solidFill>
              <a:schemeClr val="accent1"/>
            </a:solidFill>
            <a:prstDash val="solid"/>
          </a:ln>
        </p:spPr>
      </p:sp>
      <p:sp>
        <p:nvSpPr>
          <p:cNvPr id="4" name="Text 2"/>
          <p:cNvSpPr txBox="1"/>
          <p:nvPr/>
        </p:nvSpPr>
        <p:spPr>
          <a:xfrm>
            <a:off x="548640" y="1554480"/>
            <a:ext cx="1188720" cy="1188720"/>
          </a:xfrm>
          <a:prstGeom prst="rect">
            <a:avLst/>
          </a:prstGeom>
          <a:noFill/>
          <a:ln/>
        </p:spPr>
        <p:txBody>
          <a:bodyPr wrap="square" lIns="0" tIns="0" rIns="0" bIns="0" rtlCol="0" anchor="ctr"/>
          <a:lstStyle/>
          <a:p>
            <a:pPr algn="ctr" indent="0" marL="0">
              <a:buNone/>
            </a:pPr>
            <a:r>
              <a:rPr lang="en-US" sz="4400" b="1" dirty="0">
                <a:solidFill>
                  <a:schemeClr val="bg1"/>
                </a:solidFill>
                <a:latin typeface="Cambria" pitchFamily="34" charset="0"/>
                <a:ea typeface="Cambria" pitchFamily="34" charset="-122"/>
                <a:cs typeface="Cambria" pitchFamily="34" charset="-120"/>
              </a:rPr>
              <a:t>4</a:t>
            </a:r>
            <a:endParaRPr lang="en-US" sz="4400" dirty="0"/>
          </a:p>
        </p:txBody>
      </p:sp>
      <p:sp>
        <p:nvSpPr>
          <p:cNvPr id="5" name="Text 3"/>
          <p:cNvSpPr txBox="1"/>
          <p:nvPr/>
        </p:nvSpPr>
        <p:spPr>
          <a:xfrm>
            <a:off x="548640" y="2880360"/>
            <a:ext cx="1463040" cy="320040"/>
          </a:xfrm>
          <a:prstGeom prst="rect">
            <a:avLst/>
          </a:prstGeom>
          <a:noFill/>
          <a:ln/>
        </p:spPr>
        <p:txBody>
          <a:bodyPr wrap="square" lIns="0" tIns="0" rIns="0" bIns="0" rtlCol="0" anchor="t"/>
          <a:lstStyle/>
          <a:p>
            <a:pPr indent="0" marL="0">
              <a:buNone/>
            </a:pPr>
            <a:r>
              <a:rPr lang="en-US" sz="1200" b="1" spc="100" kern="0" dirty="0">
                <a:solidFill>
                  <a:schemeClr val="accent1"/>
                </a:solidFill>
              </a:rPr>
              <a:t>STEP 4 OF 6</a:t>
            </a:r>
            <a:endParaRPr lang="en-US" sz="1200" dirty="0"/>
          </a:p>
        </p:txBody>
      </p:sp>
      <p:graphicFrame>
        <p:nvGraphicFramePr>
          <p:cNvPr id="8" name="Commands table"/>
          <p:cNvGraphicFramePr>
            <a:graphicFrameLocks noGrp="1"/>
          </p:cNvGraphicFramePr>
          <p:nvPr>
            <p:extLst>
              <p:ext uri="{D42A27DB-BD31-4B8C-83A1-F6EECF244321}">
                <p14:modId xmlns:p14="http://schemas.microsoft.com/office/powerpoint/2010/main" val="1579011935"/>
              </p:ext>
            </p:extLst>
          </p:nvPr>
        </p:nvGraphicFramePr>
        <p:xfrm>
          <a:off x="2194560" y="1554480"/>
          <a:ext cx="9418320" cy="914400"/>
        </p:xfrm>
        <a:graphic>
          <a:graphicData uri="http://schemas.openxmlformats.org/drawingml/2006/table">
            <a:tbl>
              <a:tblPr/>
              <a:tblGrid>
                <a:gridCol w="3108960"/>
                <a:gridCol w="6309360"/>
              </a:tblGrid>
              <a:tr h="512064">
                <a:tc>
                  <a:txBody>
                    <a:bodyPr/>
                    <a:lstStyle/>
                    <a:p>
                      <a:pPr indent="0" marL="0">
                        <a:buNone/>
                      </a:pPr>
                      <a:r>
                        <a:rPr lang="en-US" sz="1500" b="1" dirty="0">
                          <a:solidFill>
                            <a:schemeClr val="bg1"/>
                          </a:solidFill>
                        </a:rPr>
                        <a:t>Type this</a:t>
                      </a:r>
                      <a:endParaRPr lang="en-US" sz="1500" dirty="0"/>
                    </a:p>
                  </a:txBody>
                  <a:tcPr marL="109728" marR="109728" marT="0" marB="0" anchor="ctr">
                    <a:lnL w="9525" cap="flat" cmpd="sng" algn="ctr">
                      <a:solidFill>
                        <a:srgbClr val="D5E6E2"/>
                      </a:solidFill>
                      <a:prstDash val="solid"/>
                      <a:round/>
                      <a:headEnd type="none" w="med" len="med"/>
                      <a:tailEnd type="none" w="med" len="med"/>
                    </a:lnL>
                    <a:lnR w="9525" cap="flat" cmpd="sng" algn="ctr">
                      <a:solidFill>
                        <a:srgbClr val="D5E6E2"/>
                      </a:solidFill>
                      <a:prstDash val="solid"/>
                      <a:round/>
                      <a:headEnd type="none" w="med" len="med"/>
                      <a:tailEnd type="none" w="med" len="med"/>
                    </a:lnR>
                    <a:lnT w="9525" cap="flat" cmpd="sng" algn="ctr">
                      <a:solidFill>
                        <a:srgbClr val="D5E6E2"/>
                      </a:solidFill>
                      <a:prstDash val="solid"/>
                      <a:round/>
                      <a:headEnd type="none" w="med" len="med"/>
                      <a:tailEnd type="none" w="med" len="med"/>
                    </a:lnT>
                    <a:lnB w="9525" cap="flat" cmpd="sng" algn="ctr">
                      <a:solidFill>
                        <a:srgbClr val="D5E6E2"/>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What you get</a:t>
                      </a:r>
                      <a:endParaRPr lang="en-US" sz="1500" dirty="0"/>
                    </a:p>
                  </a:txBody>
                  <a:tcPr marL="109728" marR="109728" marT="0" marB="0" anchor="ctr">
                    <a:lnL w="9525" cap="flat" cmpd="sng" algn="ctr">
                      <a:solidFill>
                        <a:srgbClr val="D5E6E2"/>
                      </a:solidFill>
                      <a:prstDash val="solid"/>
                      <a:round/>
                      <a:headEnd type="none" w="med" len="med"/>
                      <a:tailEnd type="none" w="med" len="med"/>
                    </a:lnL>
                    <a:lnR w="9525" cap="flat" cmpd="sng" algn="ctr">
                      <a:solidFill>
                        <a:srgbClr val="D5E6E2"/>
                      </a:solidFill>
                      <a:prstDash val="solid"/>
                      <a:round/>
                      <a:headEnd type="none" w="med" len="med"/>
                      <a:tailEnd type="none" w="med" len="med"/>
                    </a:lnR>
                    <a:lnT w="9525" cap="flat" cmpd="sng" algn="ctr">
                      <a:solidFill>
                        <a:srgbClr val="D5E6E2"/>
                      </a:solidFill>
                      <a:prstDash val="solid"/>
                      <a:round/>
                      <a:headEnd type="none" w="med" len="med"/>
                      <a:tailEnd type="none" w="med" len="med"/>
                    </a:lnT>
                    <a:lnB w="9525" cap="flat" cmpd="sng" algn="ctr">
                      <a:solidFill>
                        <a:srgbClr val="D5E6E2"/>
                      </a:solidFill>
                      <a:prstDash val="solid"/>
                      <a:round/>
                      <a:headEnd type="none" w="med" len="med"/>
                      <a:tailEnd type="none" w="med" len="med"/>
                    </a:lnB>
                    <a:solidFill>
                      <a:schemeClr val="tx2"/>
                    </a:solidFill>
                  </a:tcPr>
                </a:tc>
              </a:tr>
              <a:tr h="512064">
                <a:tc>
                  <a:txBody>
                    <a:bodyPr/>
                    <a:lstStyle/>
                    <a:p>
                      <a:pPr indent="0" marL="0">
                        <a:buNone/>
                      </a:pPr>
                      <a:r>
                        <a:rPr lang="en-US" sz="1400" b="1" dirty="0">
                          <a:solidFill>
                            <a:schemeClr val="tx2"/>
                          </a:solidFill>
                        </a:rPr>
                        <a:t>EXPLORE</a:t>
                      </a:r>
                      <a:endParaRPr lang="en-US" sz="1400" dirty="0"/>
                    </a:p>
                  </a:txBody>
                  <a:tcPr marL="109728" marR="109728" marT="0" marB="0" anchor="ctr">
                    <a:lnL w="9525" cap="flat" cmpd="sng" algn="ctr">
                      <a:solidFill>
                        <a:srgbClr val="D5E6E2"/>
                      </a:solidFill>
                      <a:prstDash val="solid"/>
                      <a:round/>
                      <a:headEnd type="none" w="med" len="med"/>
                      <a:tailEnd type="none" w="med" len="med"/>
                    </a:lnL>
                    <a:lnR w="9525" cap="flat" cmpd="sng" algn="ctr">
                      <a:solidFill>
                        <a:srgbClr val="D5E6E2"/>
                      </a:solidFill>
                      <a:prstDash val="solid"/>
                      <a:round/>
                      <a:headEnd type="none" w="med" len="med"/>
                      <a:tailEnd type="none" w="med" len="med"/>
                    </a:lnR>
                    <a:lnT w="9525" cap="flat" cmpd="sng" algn="ctr">
                      <a:solidFill>
                        <a:srgbClr val="D5E6E2"/>
                      </a:solidFill>
                      <a:prstDash val="solid"/>
                      <a:round/>
                      <a:headEnd type="none" w="med" len="med"/>
                      <a:tailEnd type="none" w="med" len="med"/>
                    </a:lnT>
                    <a:lnB w="9525" cap="flat" cmpd="sng" algn="ctr">
                      <a:solidFill>
                        <a:srgbClr val="D5E6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Not sure what to aim for? Suggests 3–5 career paths that suit you</a:t>
                      </a:r>
                      <a:endParaRPr lang="en-US" sz="1400" dirty="0"/>
                    </a:p>
                  </a:txBody>
                  <a:tcPr marL="109728" marR="109728" marT="0" marB="0" anchor="ctr">
                    <a:lnL w="9525" cap="flat" cmpd="sng" algn="ctr">
                      <a:solidFill>
                        <a:srgbClr val="D5E6E2"/>
                      </a:solidFill>
                      <a:prstDash val="solid"/>
                      <a:round/>
                      <a:headEnd type="none" w="med" len="med"/>
                      <a:tailEnd type="none" w="med" len="med"/>
                    </a:lnL>
                    <a:lnR w="9525" cap="flat" cmpd="sng" algn="ctr">
                      <a:solidFill>
                        <a:srgbClr val="D5E6E2"/>
                      </a:solidFill>
                      <a:prstDash val="solid"/>
                      <a:round/>
                      <a:headEnd type="none" w="med" len="med"/>
                      <a:tailEnd type="none" w="med" len="med"/>
                    </a:lnR>
                    <a:lnT w="9525" cap="flat" cmpd="sng" algn="ctr">
                      <a:solidFill>
                        <a:srgbClr val="D5E6E2"/>
                      </a:solidFill>
                      <a:prstDash val="solid"/>
                      <a:round/>
                      <a:headEnd type="none" w="med" len="med"/>
                      <a:tailEnd type="none" w="med" len="med"/>
                    </a:lnT>
                    <a:lnB w="9525" cap="flat" cmpd="sng" algn="ctr">
                      <a:solidFill>
                        <a:srgbClr val="D5E6E2"/>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2"/>
                          </a:solidFill>
                        </a:rPr>
                        <a:t>SEARCH JOBS</a:t>
                      </a:r>
                      <a:endParaRPr lang="en-US" sz="1400" dirty="0"/>
                    </a:p>
                  </a:txBody>
                  <a:tcPr marL="109728" marR="109728" marT="0" marB="0" anchor="ctr">
                    <a:lnL w="9525" cap="flat" cmpd="sng" algn="ctr">
                      <a:solidFill>
                        <a:srgbClr val="D5E6E2"/>
                      </a:solidFill>
                      <a:prstDash val="solid"/>
                      <a:round/>
                      <a:headEnd type="none" w="med" len="med"/>
                      <a:tailEnd type="none" w="med" len="med"/>
                    </a:lnL>
                    <a:lnR w="9525" cap="flat" cmpd="sng" algn="ctr">
                      <a:solidFill>
                        <a:srgbClr val="D5E6E2"/>
                      </a:solidFill>
                      <a:prstDash val="solid"/>
                      <a:round/>
                      <a:headEnd type="none" w="med" len="med"/>
                      <a:tailEnd type="none" w="med" len="med"/>
                    </a:lnR>
                    <a:lnT w="9525" cap="flat" cmpd="sng" algn="ctr">
                      <a:solidFill>
                        <a:srgbClr val="D5E6E2"/>
                      </a:solidFill>
                      <a:prstDash val="solid"/>
                      <a:round/>
                      <a:headEnd type="none" w="med" len="med"/>
                      <a:tailEnd type="none" w="med" len="med"/>
                    </a:lnT>
                    <a:lnB w="9525" cap="flat" cmpd="sng" algn="ctr">
                      <a:solidFill>
                        <a:srgbClr val="D5E6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Jobs, apprenticeships, internships and graduate schemes</a:t>
                      </a:r>
                      <a:endParaRPr lang="en-US" sz="1400" dirty="0"/>
                    </a:p>
                  </a:txBody>
                  <a:tcPr marL="109728" marR="109728" marT="0" marB="0" anchor="ctr">
                    <a:lnL w="9525" cap="flat" cmpd="sng" algn="ctr">
                      <a:solidFill>
                        <a:srgbClr val="D5E6E2"/>
                      </a:solidFill>
                      <a:prstDash val="solid"/>
                      <a:round/>
                      <a:headEnd type="none" w="med" len="med"/>
                      <a:tailEnd type="none" w="med" len="med"/>
                    </a:lnL>
                    <a:lnR w="9525" cap="flat" cmpd="sng" algn="ctr">
                      <a:solidFill>
                        <a:srgbClr val="D5E6E2"/>
                      </a:solidFill>
                      <a:prstDash val="solid"/>
                      <a:round/>
                      <a:headEnd type="none" w="med" len="med"/>
                      <a:tailEnd type="none" w="med" len="med"/>
                    </a:lnR>
                    <a:lnT w="9525" cap="flat" cmpd="sng" algn="ctr">
                      <a:solidFill>
                        <a:srgbClr val="D5E6E2"/>
                      </a:solidFill>
                      <a:prstDash val="solid"/>
                      <a:round/>
                      <a:headEnd type="none" w="med" len="med"/>
                      <a:tailEnd type="none" w="med" len="med"/>
                    </a:lnT>
                    <a:lnB w="9525" cap="flat" cmpd="sng" algn="ctr">
                      <a:solidFill>
                        <a:srgbClr val="D5E6E2"/>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2"/>
                          </a:solidFill>
                        </a:rPr>
                        <a:t>SEARCH PHD</a:t>
                      </a:r>
                      <a:endParaRPr lang="en-US" sz="1400" dirty="0"/>
                    </a:p>
                  </a:txBody>
                  <a:tcPr marL="109728" marR="109728" marT="0" marB="0" anchor="ctr">
                    <a:lnL w="9525" cap="flat" cmpd="sng" algn="ctr">
                      <a:solidFill>
                        <a:srgbClr val="D5E6E2"/>
                      </a:solidFill>
                      <a:prstDash val="solid"/>
                      <a:round/>
                      <a:headEnd type="none" w="med" len="med"/>
                      <a:tailEnd type="none" w="med" len="med"/>
                    </a:lnL>
                    <a:lnR w="9525" cap="flat" cmpd="sng" algn="ctr">
                      <a:solidFill>
                        <a:srgbClr val="D5E6E2"/>
                      </a:solidFill>
                      <a:prstDash val="solid"/>
                      <a:round/>
                      <a:headEnd type="none" w="med" len="med"/>
                      <a:tailEnd type="none" w="med" len="med"/>
                    </a:lnR>
                    <a:lnT w="9525" cap="flat" cmpd="sng" algn="ctr">
                      <a:solidFill>
                        <a:srgbClr val="D5E6E2"/>
                      </a:solidFill>
                      <a:prstDash val="solid"/>
                      <a:round/>
                      <a:headEnd type="none" w="med" len="med"/>
                      <a:tailEnd type="none" w="med" len="med"/>
                    </a:lnT>
                    <a:lnB w="9525" cap="flat" cmpd="sng" algn="ctr">
                      <a:solidFill>
                        <a:srgbClr val="D5E6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Fully funded PhDs for your fee status</a:t>
                      </a:r>
                      <a:endParaRPr lang="en-US" sz="1400" dirty="0"/>
                    </a:p>
                  </a:txBody>
                  <a:tcPr marL="109728" marR="109728" marT="0" marB="0" anchor="ctr">
                    <a:lnL w="9525" cap="flat" cmpd="sng" algn="ctr">
                      <a:solidFill>
                        <a:srgbClr val="D5E6E2"/>
                      </a:solidFill>
                      <a:prstDash val="solid"/>
                      <a:round/>
                      <a:headEnd type="none" w="med" len="med"/>
                      <a:tailEnd type="none" w="med" len="med"/>
                    </a:lnL>
                    <a:lnR w="9525" cap="flat" cmpd="sng" algn="ctr">
                      <a:solidFill>
                        <a:srgbClr val="D5E6E2"/>
                      </a:solidFill>
                      <a:prstDash val="solid"/>
                      <a:round/>
                      <a:headEnd type="none" w="med" len="med"/>
                      <a:tailEnd type="none" w="med" len="med"/>
                    </a:lnR>
                    <a:lnT w="9525" cap="flat" cmpd="sng" algn="ctr">
                      <a:solidFill>
                        <a:srgbClr val="D5E6E2"/>
                      </a:solidFill>
                      <a:prstDash val="solid"/>
                      <a:round/>
                      <a:headEnd type="none" w="med" len="med"/>
                      <a:tailEnd type="none" w="med" len="med"/>
                    </a:lnT>
                    <a:lnB w="9525" cap="flat" cmpd="sng" algn="ctr">
                      <a:solidFill>
                        <a:srgbClr val="D5E6E2"/>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2"/>
                          </a:solidFill>
                        </a:rPr>
                        <a:t>SEARCH STUDY</a:t>
                      </a:r>
                      <a:endParaRPr lang="en-US" sz="1400" dirty="0"/>
                    </a:p>
                  </a:txBody>
                  <a:tcPr marL="109728" marR="109728" marT="0" marB="0" anchor="ctr">
                    <a:lnL w="9525" cap="flat" cmpd="sng" algn="ctr">
                      <a:solidFill>
                        <a:srgbClr val="D5E6E2"/>
                      </a:solidFill>
                      <a:prstDash val="solid"/>
                      <a:round/>
                      <a:headEnd type="none" w="med" len="med"/>
                      <a:tailEnd type="none" w="med" len="med"/>
                    </a:lnL>
                    <a:lnR w="9525" cap="flat" cmpd="sng" algn="ctr">
                      <a:solidFill>
                        <a:srgbClr val="D5E6E2"/>
                      </a:solidFill>
                      <a:prstDash val="solid"/>
                      <a:round/>
                      <a:headEnd type="none" w="med" len="med"/>
                      <a:tailEnd type="none" w="med" len="med"/>
                    </a:lnR>
                    <a:lnT w="9525" cap="flat" cmpd="sng" algn="ctr">
                      <a:solidFill>
                        <a:srgbClr val="D5E6E2"/>
                      </a:solidFill>
                      <a:prstDash val="solid"/>
                      <a:round/>
                      <a:headEnd type="none" w="med" len="med"/>
                      <a:tailEnd type="none" w="med" len="med"/>
                    </a:lnT>
                    <a:lnB w="9525" cap="flat" cmpd="sng" algn="ctr">
                      <a:solidFill>
                        <a:srgbClr val="D5E6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Funded degrees, salaried fellowships and free training</a:t>
                      </a:r>
                      <a:endParaRPr lang="en-US" sz="1400" dirty="0"/>
                    </a:p>
                  </a:txBody>
                  <a:tcPr marL="109728" marR="109728" marT="0" marB="0" anchor="ctr">
                    <a:lnL w="9525" cap="flat" cmpd="sng" algn="ctr">
                      <a:solidFill>
                        <a:srgbClr val="D5E6E2"/>
                      </a:solidFill>
                      <a:prstDash val="solid"/>
                      <a:round/>
                      <a:headEnd type="none" w="med" len="med"/>
                      <a:tailEnd type="none" w="med" len="med"/>
                    </a:lnL>
                    <a:lnR w="9525" cap="flat" cmpd="sng" algn="ctr">
                      <a:solidFill>
                        <a:srgbClr val="D5E6E2"/>
                      </a:solidFill>
                      <a:prstDash val="solid"/>
                      <a:round/>
                      <a:headEnd type="none" w="med" len="med"/>
                      <a:tailEnd type="none" w="med" len="med"/>
                    </a:lnR>
                    <a:lnT w="9525" cap="flat" cmpd="sng" algn="ctr">
                      <a:solidFill>
                        <a:srgbClr val="D5E6E2"/>
                      </a:solidFill>
                      <a:prstDash val="solid"/>
                      <a:round/>
                      <a:headEnd type="none" w="med" len="med"/>
                      <a:tailEnd type="none" w="med" len="med"/>
                    </a:lnT>
                    <a:lnB w="9525" cap="flat" cmpd="sng" algn="ctr">
                      <a:solidFill>
                        <a:srgbClr val="D5E6E2"/>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2"/>
                          </a:solidFill>
                        </a:rPr>
                        <a:t>SEARCH BOTH</a:t>
                      </a:r>
                      <a:endParaRPr lang="en-US" sz="1400" dirty="0"/>
                    </a:p>
                  </a:txBody>
                  <a:tcPr marL="109728" marR="109728" marT="0" marB="0" anchor="ctr">
                    <a:lnL w="9525" cap="flat" cmpd="sng" algn="ctr">
                      <a:solidFill>
                        <a:srgbClr val="D5E6E2"/>
                      </a:solidFill>
                      <a:prstDash val="solid"/>
                      <a:round/>
                      <a:headEnd type="none" w="med" len="med"/>
                      <a:tailEnd type="none" w="med" len="med"/>
                    </a:lnL>
                    <a:lnR w="9525" cap="flat" cmpd="sng" algn="ctr">
                      <a:solidFill>
                        <a:srgbClr val="D5E6E2"/>
                      </a:solidFill>
                      <a:prstDash val="solid"/>
                      <a:round/>
                      <a:headEnd type="none" w="med" len="med"/>
                      <a:tailEnd type="none" w="med" len="med"/>
                    </a:lnR>
                    <a:lnT w="9525" cap="flat" cmpd="sng" algn="ctr">
                      <a:solidFill>
                        <a:srgbClr val="D5E6E2"/>
                      </a:solidFill>
                      <a:prstDash val="solid"/>
                      <a:round/>
                      <a:headEnd type="none" w="med" len="med"/>
                      <a:tailEnd type="none" w="med" len="med"/>
                    </a:lnT>
                    <a:lnB w="9525" cap="flat" cmpd="sng" algn="ctr">
                      <a:solidFill>
                        <a:srgbClr val="D5E6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One job and one PhD</a:t>
                      </a:r>
                      <a:endParaRPr lang="en-US" sz="1400" dirty="0"/>
                    </a:p>
                  </a:txBody>
                  <a:tcPr marL="109728" marR="109728" marT="0" marB="0" anchor="ctr">
                    <a:lnL w="9525" cap="flat" cmpd="sng" algn="ctr">
                      <a:solidFill>
                        <a:srgbClr val="D5E6E2"/>
                      </a:solidFill>
                      <a:prstDash val="solid"/>
                      <a:round/>
                      <a:headEnd type="none" w="med" len="med"/>
                      <a:tailEnd type="none" w="med" len="med"/>
                    </a:lnL>
                    <a:lnR w="9525" cap="flat" cmpd="sng" algn="ctr">
                      <a:solidFill>
                        <a:srgbClr val="D5E6E2"/>
                      </a:solidFill>
                      <a:prstDash val="solid"/>
                      <a:round/>
                      <a:headEnd type="none" w="med" len="med"/>
                      <a:tailEnd type="none" w="med" len="med"/>
                    </a:lnR>
                    <a:lnT w="9525" cap="flat" cmpd="sng" algn="ctr">
                      <a:solidFill>
                        <a:srgbClr val="D5E6E2"/>
                      </a:solidFill>
                      <a:prstDash val="solid"/>
                      <a:round/>
                      <a:headEnd type="none" w="med" len="med"/>
                      <a:tailEnd type="none" w="med" len="med"/>
                    </a:lnT>
                    <a:lnB w="9525" cap="flat" cmpd="sng" algn="ctr">
                      <a:solidFill>
                        <a:srgbClr val="D5E6E2"/>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2"/>
                          </a:solidFill>
                        </a:rPr>
                        <a:t>SEARCH ALL</a:t>
                      </a:r>
                      <a:endParaRPr lang="en-US" sz="1400" dirty="0"/>
                    </a:p>
                  </a:txBody>
                  <a:tcPr marL="109728" marR="109728" marT="0" marB="0" anchor="ctr">
                    <a:lnL w="9525" cap="flat" cmpd="sng" algn="ctr">
                      <a:solidFill>
                        <a:srgbClr val="D5E6E2"/>
                      </a:solidFill>
                      <a:prstDash val="solid"/>
                      <a:round/>
                      <a:headEnd type="none" w="med" len="med"/>
                      <a:tailEnd type="none" w="med" len="med"/>
                    </a:lnL>
                    <a:lnR w="9525" cap="flat" cmpd="sng" algn="ctr">
                      <a:solidFill>
                        <a:srgbClr val="D5E6E2"/>
                      </a:solidFill>
                      <a:prstDash val="solid"/>
                      <a:round/>
                      <a:headEnd type="none" w="med" len="med"/>
                      <a:tailEnd type="none" w="med" len="med"/>
                    </a:lnR>
                    <a:lnT w="9525" cap="flat" cmpd="sng" algn="ctr">
                      <a:solidFill>
                        <a:srgbClr val="D5E6E2"/>
                      </a:solidFill>
                      <a:prstDash val="solid"/>
                      <a:round/>
                      <a:headEnd type="none" w="med" len="med"/>
                      <a:tailEnd type="none" w="med" len="med"/>
                    </a:lnT>
                    <a:lnB w="9525" cap="flat" cmpd="sng" algn="ctr">
                      <a:solidFill>
                        <a:srgbClr val="D5E6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One pick from each category</a:t>
                      </a:r>
                      <a:endParaRPr lang="en-US" sz="1400" dirty="0"/>
                    </a:p>
                  </a:txBody>
                  <a:tcPr marL="109728" marR="109728" marT="0" marB="0" anchor="ctr">
                    <a:lnL w="9525" cap="flat" cmpd="sng" algn="ctr">
                      <a:solidFill>
                        <a:srgbClr val="D5E6E2"/>
                      </a:solidFill>
                      <a:prstDash val="solid"/>
                      <a:round/>
                      <a:headEnd type="none" w="med" len="med"/>
                      <a:tailEnd type="none" w="med" len="med"/>
                    </a:lnL>
                    <a:lnR w="9525" cap="flat" cmpd="sng" algn="ctr">
                      <a:solidFill>
                        <a:srgbClr val="D5E6E2"/>
                      </a:solidFill>
                      <a:prstDash val="solid"/>
                      <a:round/>
                      <a:headEnd type="none" w="med" len="med"/>
                      <a:tailEnd type="none" w="med" len="med"/>
                    </a:lnR>
                    <a:lnT w="9525" cap="flat" cmpd="sng" algn="ctr">
                      <a:solidFill>
                        <a:srgbClr val="D5E6E2"/>
                      </a:solidFill>
                      <a:prstDash val="solid"/>
                      <a:round/>
                      <a:headEnd type="none" w="med" len="med"/>
                      <a:tailEnd type="none" w="med" len="med"/>
                    </a:lnT>
                    <a:lnB w="9525" cap="flat" cmpd="sng" algn="ctr">
                      <a:solidFill>
                        <a:srgbClr val="D5E6E2"/>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2"/>
                          </a:solidFill>
                        </a:rPr>
                        <a:t>IS THIS A GOOD OPPORTUNITY?</a:t>
                      </a:r>
                      <a:endParaRPr lang="en-US" sz="1400" dirty="0"/>
                    </a:p>
                  </a:txBody>
                  <a:tcPr marL="109728" marR="109728" marT="0" marB="0" anchor="ctr">
                    <a:lnL w="9525" cap="flat" cmpd="sng" algn="ctr">
                      <a:solidFill>
                        <a:srgbClr val="D5E6E2"/>
                      </a:solidFill>
                      <a:prstDash val="solid"/>
                      <a:round/>
                      <a:headEnd type="none" w="med" len="med"/>
                      <a:tailEnd type="none" w="med" len="med"/>
                    </a:lnL>
                    <a:lnR w="9525" cap="flat" cmpd="sng" algn="ctr">
                      <a:solidFill>
                        <a:srgbClr val="D5E6E2"/>
                      </a:solidFill>
                      <a:prstDash val="solid"/>
                      <a:round/>
                      <a:headEnd type="none" w="med" len="med"/>
                      <a:tailEnd type="none" w="med" len="med"/>
                    </a:lnR>
                    <a:lnT w="9525" cap="flat" cmpd="sng" algn="ctr">
                      <a:solidFill>
                        <a:srgbClr val="D5E6E2"/>
                      </a:solidFill>
                      <a:prstDash val="solid"/>
                      <a:round/>
                      <a:headEnd type="none" w="med" len="med"/>
                      <a:tailEnd type="none" w="med" len="med"/>
                    </a:lnT>
                    <a:lnB w="9525" cap="flat" cmpd="sng" algn="ctr">
                      <a:solidFill>
                        <a:srgbClr val="D5E6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Paste any advert for an honest verdict</a:t>
                      </a:r>
                      <a:endParaRPr lang="en-US" sz="1400" dirty="0"/>
                    </a:p>
                  </a:txBody>
                  <a:tcPr marL="109728" marR="109728" marT="0" marB="0" anchor="ctr">
                    <a:lnL w="9525" cap="flat" cmpd="sng" algn="ctr">
                      <a:solidFill>
                        <a:srgbClr val="D5E6E2"/>
                      </a:solidFill>
                      <a:prstDash val="solid"/>
                      <a:round/>
                      <a:headEnd type="none" w="med" len="med"/>
                      <a:tailEnd type="none" w="med" len="med"/>
                    </a:lnL>
                    <a:lnR w="9525" cap="flat" cmpd="sng" algn="ctr">
                      <a:solidFill>
                        <a:srgbClr val="D5E6E2"/>
                      </a:solidFill>
                      <a:prstDash val="solid"/>
                      <a:round/>
                      <a:headEnd type="none" w="med" len="med"/>
                      <a:tailEnd type="none" w="med" len="med"/>
                    </a:lnR>
                    <a:lnT w="9525" cap="flat" cmpd="sng" algn="ctr">
                      <a:solidFill>
                        <a:srgbClr val="D5E6E2"/>
                      </a:solidFill>
                      <a:prstDash val="solid"/>
                      <a:round/>
                      <a:headEnd type="none" w="med" len="med"/>
                      <a:tailEnd type="none" w="med" len="med"/>
                    </a:lnT>
                    <a:lnB w="9525" cap="flat" cmpd="sng" algn="ctr">
                      <a:solidFill>
                        <a:srgbClr val="D5E6E2"/>
                      </a:solidFill>
                      <a:prstDash val="solid"/>
                      <a:round/>
                      <a:headEnd type="none" w="med" len="med"/>
                      <a:tailEnd type="none" w="med" len="med"/>
                    </a:lnB>
                    <a:solidFill>
                      <a:schemeClr val="bg1"/>
                    </a:solidFill>
                  </a:tcPr>
                </a:tc>
              </a:tr>
            </a:tbl>
          </a:graphicData>
        </a:graphic>
      </p:graphicFrame>
      <p:sp>
        <p:nvSpPr>
          <p:cNvPr id="7" name="Text 4"/>
          <p:cNvSpPr txBox="1"/>
          <p:nvPr/>
        </p:nvSpPr>
        <p:spPr>
          <a:xfrm>
            <a:off x="2194560" y="5806440"/>
            <a:ext cx="9418320" cy="411480"/>
          </a:xfrm>
          <a:prstGeom prst="rect">
            <a:avLst/>
          </a:prstGeom>
          <a:noFill/>
          <a:ln/>
        </p:spPr>
        <p:txBody>
          <a:bodyPr wrap="square" lIns="0" tIns="0" rIns="0" bIns="0" rtlCol="0" anchor="t"/>
          <a:lstStyle/>
          <a:p>
            <a:pPr indent="0" marL="0">
              <a:buNone/>
            </a:pPr>
            <a:r>
              <a:rPr lang="en-US" sz="1500" i="1" dirty="0">
                <a:solidFill>
                  <a:schemeClr val="accent5"/>
                </a:solidFill>
              </a:rPr>
              <a:t>Each search gives one main pick, plus one career-building opportunity you can do now.</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Read the result: four clear statuses</a:t>
            </a:r>
            <a:endParaRPr lang="en-US" sz="3600" dirty="0"/>
          </a:p>
        </p:txBody>
      </p:sp>
      <p:sp>
        <p:nvSpPr>
          <p:cNvPr id="3" name="Text 1"/>
          <p:cNvSpPr txBox="1"/>
          <p:nvPr/>
        </p:nvSpPr>
        <p:spPr>
          <a:xfrm>
            <a:off x="548640" y="1097280"/>
            <a:ext cx="18288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STEP 5 OF 6</a:t>
            </a:r>
            <a:endParaRPr lang="en-US" sz="1200" dirty="0"/>
          </a:p>
        </p:txBody>
      </p:sp>
      <p:sp>
        <p:nvSpPr>
          <p:cNvPr id="4" name="VERIFIED card"/>
          <p:cNvSpPr/>
          <p:nvPr/>
        </p:nvSpPr>
        <p:spPr>
          <a:xfrm>
            <a:off x="548640" y="1463040"/>
            <a:ext cx="5440680" cy="2011680"/>
          </a:xfrm>
          <a:prstGeom prst="roundRect">
            <a:avLst>
              <a:gd name="adj" fmla="val 5455"/>
            </a:avLst>
          </a:prstGeom>
          <a:solidFill>
            <a:schemeClr val="bg2"/>
          </a:solidFill>
          <a:ln w="12700">
            <a:solidFill>
              <a:schemeClr val="bg2"/>
            </a:solidFill>
            <a:prstDash val="solid"/>
          </a:ln>
        </p:spPr>
      </p:sp>
      <p:sp>
        <p:nvSpPr>
          <p:cNvPr id="5" name="VERIFIED circle"/>
          <p:cNvSpPr/>
          <p:nvPr/>
        </p:nvSpPr>
        <p:spPr>
          <a:xfrm>
            <a:off x="822960" y="1783080"/>
            <a:ext cx="822960" cy="822960"/>
          </a:xfrm>
          <a:prstGeom prst="ellipse">
            <a:avLst/>
          </a:prstGeom>
          <a:solidFill>
            <a:schemeClr val="accent1"/>
          </a:solidFill>
          <a:ln w="12700">
            <a:solidFill>
              <a:schemeClr val="accent1"/>
            </a:solidFill>
            <a:prstDash val="solid"/>
          </a:ln>
        </p:spPr>
      </p:sp>
      <p:pic>
        <p:nvPicPr>
          <p:cNvPr id="6" name="VERIFIED icon" descr="VERIFIED">    </p:cNvPr>
          <p:cNvPicPr>
            <a:picLocks noChangeAspect="1"/>
          </p:cNvPicPr>
          <p:nvPr/>
        </p:nvPicPr>
        <p:blipFill>
          <a:blip r:embed="rId1"/>
          <a:stretch>
            <a:fillRect/>
          </a:stretch>
        </p:blipFill>
        <p:spPr>
          <a:xfrm>
            <a:off x="1028700" y="1988820"/>
            <a:ext cx="411480" cy="411480"/>
          </a:xfrm>
          <a:prstGeom prst="rect">
            <a:avLst/>
          </a:prstGeom>
        </p:spPr>
      </p:pic>
      <p:sp>
        <p:nvSpPr>
          <p:cNvPr id="7" name="Text 4"/>
          <p:cNvSpPr txBox="1"/>
          <p:nvPr/>
        </p:nvSpPr>
        <p:spPr>
          <a:xfrm>
            <a:off x="1874520" y="1783080"/>
            <a:ext cx="3840480" cy="457200"/>
          </a:xfrm>
          <a:prstGeom prst="rect">
            <a:avLst/>
          </a:prstGeom>
          <a:noFill/>
          <a:ln/>
        </p:spPr>
        <p:txBody>
          <a:bodyPr wrap="square" lIns="0" tIns="0" rIns="0" bIns="0" rtlCol="0" anchor="t"/>
          <a:lstStyle/>
          <a:p>
            <a:pPr indent="0" marL="0">
              <a:buNone/>
            </a:pPr>
            <a:r>
              <a:rPr lang="en-US" sz="2200" b="1" dirty="0">
                <a:solidFill>
                  <a:schemeClr val="accent1"/>
                </a:solidFill>
              </a:rPr>
              <a:t>VERIFIED</a:t>
            </a:r>
            <a:endParaRPr lang="en-US" sz="2200" dirty="0"/>
          </a:p>
        </p:txBody>
      </p:sp>
      <p:sp>
        <p:nvSpPr>
          <p:cNvPr id="8" name="Text 5"/>
          <p:cNvSpPr txBox="1"/>
          <p:nvPr/>
        </p:nvSpPr>
        <p:spPr>
          <a:xfrm>
            <a:off x="1874520" y="2286000"/>
            <a:ext cx="3840480" cy="1097280"/>
          </a:xfrm>
          <a:prstGeom prst="rect">
            <a:avLst/>
          </a:prstGeom>
          <a:noFill/>
          <a:ln/>
        </p:spPr>
        <p:txBody>
          <a:bodyPr wrap="square" lIns="0" tIns="0" rIns="0" bIns="0" rtlCol="0" anchor="t"/>
          <a:lstStyle/>
          <a:p>
            <a:pPr indent="0" marL="0">
              <a:buNone/>
            </a:pPr>
            <a:r>
              <a:rPr lang="en-US" sz="1500" dirty="0">
                <a:solidFill>
                  <a:schemeClr val="tx1"/>
                </a:solidFill>
              </a:rPr>
              <a:t>Open, you meet the published essential criteria, and the key facts are confirmed with links.</a:t>
            </a:r>
            <a:endParaRPr lang="en-US" sz="1500" dirty="0"/>
          </a:p>
        </p:txBody>
      </p:sp>
      <p:sp>
        <p:nvSpPr>
          <p:cNvPr id="9" name="ASK FIRST card"/>
          <p:cNvSpPr/>
          <p:nvPr/>
        </p:nvSpPr>
        <p:spPr>
          <a:xfrm>
            <a:off x="6172200" y="1463040"/>
            <a:ext cx="5440680" cy="2011680"/>
          </a:xfrm>
          <a:prstGeom prst="roundRect">
            <a:avLst>
              <a:gd name="adj" fmla="val 5455"/>
            </a:avLst>
          </a:prstGeom>
          <a:solidFill>
            <a:schemeClr val="bg2"/>
          </a:solidFill>
          <a:ln w="12700">
            <a:solidFill>
              <a:schemeClr val="bg2"/>
            </a:solidFill>
            <a:prstDash val="solid"/>
          </a:ln>
        </p:spPr>
      </p:sp>
      <p:sp>
        <p:nvSpPr>
          <p:cNvPr id="10" name="ASK FIRST circle"/>
          <p:cNvSpPr/>
          <p:nvPr/>
        </p:nvSpPr>
        <p:spPr>
          <a:xfrm>
            <a:off x="6446520" y="1783080"/>
            <a:ext cx="822960" cy="822960"/>
          </a:xfrm>
          <a:prstGeom prst="ellipse">
            <a:avLst/>
          </a:prstGeom>
          <a:solidFill>
            <a:schemeClr val="accent4"/>
          </a:solidFill>
          <a:ln w="12700">
            <a:solidFill>
              <a:schemeClr val="accent4"/>
            </a:solidFill>
            <a:prstDash val="solid"/>
          </a:ln>
        </p:spPr>
      </p:sp>
      <p:pic>
        <p:nvPicPr>
          <p:cNvPr id="11" name="ASK FIRST icon" descr="ASK FIRST">    </p:cNvPr>
          <p:cNvPicPr>
            <a:picLocks noChangeAspect="1"/>
          </p:cNvPicPr>
          <p:nvPr/>
        </p:nvPicPr>
        <p:blipFill>
          <a:blip r:embed="rId2"/>
          <a:stretch>
            <a:fillRect/>
          </a:stretch>
        </p:blipFill>
        <p:spPr>
          <a:xfrm>
            <a:off x="6652260" y="1988820"/>
            <a:ext cx="411480" cy="411480"/>
          </a:xfrm>
          <a:prstGeom prst="rect">
            <a:avLst/>
          </a:prstGeom>
        </p:spPr>
      </p:pic>
      <p:sp>
        <p:nvSpPr>
          <p:cNvPr id="12" name="Text 8"/>
          <p:cNvSpPr txBox="1"/>
          <p:nvPr/>
        </p:nvSpPr>
        <p:spPr>
          <a:xfrm>
            <a:off x="7498080" y="1783080"/>
            <a:ext cx="3840480" cy="457200"/>
          </a:xfrm>
          <a:prstGeom prst="rect">
            <a:avLst/>
          </a:prstGeom>
          <a:noFill/>
          <a:ln/>
        </p:spPr>
        <p:txBody>
          <a:bodyPr wrap="square" lIns="0" tIns="0" rIns="0" bIns="0" rtlCol="0" anchor="t"/>
          <a:lstStyle/>
          <a:p>
            <a:pPr indent="0" marL="0">
              <a:buNone/>
            </a:pPr>
            <a:r>
              <a:rPr lang="en-US" sz="2200" b="1" dirty="0">
                <a:solidFill>
                  <a:schemeClr val="accent4"/>
                </a:solidFill>
              </a:rPr>
              <a:t>ASK FIRST</a:t>
            </a:r>
            <a:endParaRPr lang="en-US" sz="2200" dirty="0"/>
          </a:p>
        </p:txBody>
      </p:sp>
      <p:sp>
        <p:nvSpPr>
          <p:cNvPr id="13" name="Text 9"/>
          <p:cNvSpPr txBox="1"/>
          <p:nvPr/>
        </p:nvSpPr>
        <p:spPr>
          <a:xfrm>
            <a:off x="7498080" y="2286000"/>
            <a:ext cx="3840480" cy="1097280"/>
          </a:xfrm>
          <a:prstGeom prst="rect">
            <a:avLst/>
          </a:prstGeom>
          <a:noFill/>
          <a:ln/>
        </p:spPr>
        <p:txBody>
          <a:bodyPr wrap="square" lIns="0" tIns="0" rIns="0" bIns="0" rtlCol="0" anchor="t"/>
          <a:lstStyle/>
          <a:p>
            <a:pPr indent="0" marL="0">
              <a:buNone/>
            </a:pPr>
            <a:r>
              <a:rPr lang="en-US" sz="1500" dirty="0">
                <a:solidFill>
                  <a:schemeClr val="tx1"/>
                </a:solidFill>
              </a:rPr>
              <a:t>Looks right, but one point needs confirming, for example sponsorship. You get the exact question to ask.</a:t>
            </a:r>
            <a:endParaRPr lang="en-US" sz="1500" dirty="0"/>
          </a:p>
        </p:txBody>
      </p:sp>
      <p:sp>
        <p:nvSpPr>
          <p:cNvPr id="14" name="UNVERIFIED card"/>
          <p:cNvSpPr/>
          <p:nvPr/>
        </p:nvSpPr>
        <p:spPr>
          <a:xfrm>
            <a:off x="548640" y="3703320"/>
            <a:ext cx="5440680" cy="2011680"/>
          </a:xfrm>
          <a:prstGeom prst="roundRect">
            <a:avLst>
              <a:gd name="adj" fmla="val 5455"/>
            </a:avLst>
          </a:prstGeom>
          <a:solidFill>
            <a:schemeClr val="bg2"/>
          </a:solidFill>
          <a:ln w="12700">
            <a:solidFill>
              <a:schemeClr val="bg2"/>
            </a:solidFill>
            <a:prstDash val="solid"/>
          </a:ln>
        </p:spPr>
      </p:sp>
      <p:sp>
        <p:nvSpPr>
          <p:cNvPr id="15" name="UNVERIFIED circle"/>
          <p:cNvSpPr/>
          <p:nvPr/>
        </p:nvSpPr>
        <p:spPr>
          <a:xfrm>
            <a:off x="822960" y="4023360"/>
            <a:ext cx="822960" cy="822960"/>
          </a:xfrm>
          <a:prstGeom prst="ellipse">
            <a:avLst/>
          </a:prstGeom>
          <a:solidFill>
            <a:schemeClr val="accent5"/>
          </a:solidFill>
          <a:ln w="12700">
            <a:solidFill>
              <a:schemeClr val="accent5"/>
            </a:solidFill>
            <a:prstDash val="solid"/>
          </a:ln>
        </p:spPr>
      </p:sp>
      <p:pic>
        <p:nvPicPr>
          <p:cNvPr id="16" name="UNVERIFIED icon" descr="UNVERIFIED">    </p:cNvPr>
          <p:cNvPicPr>
            <a:picLocks noChangeAspect="1"/>
          </p:cNvPicPr>
          <p:nvPr/>
        </p:nvPicPr>
        <p:blipFill>
          <a:blip r:embed="rId3"/>
          <a:stretch>
            <a:fillRect/>
          </a:stretch>
        </p:blipFill>
        <p:spPr>
          <a:xfrm>
            <a:off x="1028700" y="4229100"/>
            <a:ext cx="411480" cy="411480"/>
          </a:xfrm>
          <a:prstGeom prst="rect">
            <a:avLst/>
          </a:prstGeom>
        </p:spPr>
      </p:pic>
      <p:sp>
        <p:nvSpPr>
          <p:cNvPr id="17" name="Text 12"/>
          <p:cNvSpPr txBox="1"/>
          <p:nvPr/>
        </p:nvSpPr>
        <p:spPr>
          <a:xfrm>
            <a:off x="1874520" y="4023360"/>
            <a:ext cx="3840480" cy="457200"/>
          </a:xfrm>
          <a:prstGeom prst="rect">
            <a:avLst/>
          </a:prstGeom>
          <a:noFill/>
          <a:ln/>
        </p:spPr>
        <p:txBody>
          <a:bodyPr wrap="square" lIns="0" tIns="0" rIns="0" bIns="0" rtlCol="0" anchor="t"/>
          <a:lstStyle/>
          <a:p>
            <a:pPr indent="0" marL="0">
              <a:buNone/>
            </a:pPr>
            <a:r>
              <a:rPr lang="en-US" sz="2200" b="1" dirty="0">
                <a:solidFill>
                  <a:schemeClr val="accent5"/>
                </a:solidFill>
              </a:rPr>
              <a:t>UNVERIFIED</a:t>
            </a:r>
            <a:endParaRPr lang="en-US" sz="2200" dirty="0"/>
          </a:p>
        </p:txBody>
      </p:sp>
      <p:sp>
        <p:nvSpPr>
          <p:cNvPr id="18" name="Text 13"/>
          <p:cNvSpPr txBox="1"/>
          <p:nvPr/>
        </p:nvSpPr>
        <p:spPr>
          <a:xfrm>
            <a:off x="1874520" y="4526280"/>
            <a:ext cx="3840480" cy="1097280"/>
          </a:xfrm>
          <a:prstGeom prst="rect">
            <a:avLst/>
          </a:prstGeom>
          <a:noFill/>
          <a:ln/>
        </p:spPr>
        <p:txBody>
          <a:bodyPr wrap="square" lIns="0" tIns="0" rIns="0" bIns="0" rtlCol="0" anchor="t"/>
          <a:lstStyle/>
          <a:p>
            <a:pPr indent="0" marL="0">
              <a:buNone/>
            </a:pPr>
            <a:r>
              <a:rPr lang="en-US" sz="1500" dirty="0">
                <a:solidFill>
                  <a:schemeClr val="tx1"/>
                </a:solidFill>
              </a:rPr>
              <a:t>The page couldn't be opened, or the evidence is missing. Check it yourself before trusting it.</a:t>
            </a:r>
            <a:endParaRPr lang="en-US" sz="1500" dirty="0"/>
          </a:p>
        </p:txBody>
      </p:sp>
      <p:sp>
        <p:nvSpPr>
          <p:cNvPr id="19" name="REJECTED card"/>
          <p:cNvSpPr/>
          <p:nvPr/>
        </p:nvSpPr>
        <p:spPr>
          <a:xfrm>
            <a:off x="6172200" y="3703320"/>
            <a:ext cx="5440680" cy="2011680"/>
          </a:xfrm>
          <a:prstGeom prst="roundRect">
            <a:avLst>
              <a:gd name="adj" fmla="val 5455"/>
            </a:avLst>
          </a:prstGeom>
          <a:solidFill>
            <a:schemeClr val="bg2"/>
          </a:solidFill>
          <a:ln w="12700">
            <a:solidFill>
              <a:schemeClr val="bg2"/>
            </a:solidFill>
            <a:prstDash val="solid"/>
          </a:ln>
        </p:spPr>
      </p:sp>
      <p:sp>
        <p:nvSpPr>
          <p:cNvPr id="20" name="REJECTED circle"/>
          <p:cNvSpPr/>
          <p:nvPr/>
        </p:nvSpPr>
        <p:spPr>
          <a:xfrm>
            <a:off x="6446520" y="4023360"/>
            <a:ext cx="822960" cy="822960"/>
          </a:xfrm>
          <a:prstGeom prst="ellipse">
            <a:avLst/>
          </a:prstGeom>
          <a:solidFill>
            <a:schemeClr val="accent3"/>
          </a:solidFill>
          <a:ln w="12700">
            <a:solidFill>
              <a:schemeClr val="accent3"/>
            </a:solidFill>
            <a:prstDash val="solid"/>
          </a:ln>
        </p:spPr>
      </p:sp>
      <p:pic>
        <p:nvPicPr>
          <p:cNvPr id="21" name="REJECTED icon" descr="REJECTED">    </p:cNvPr>
          <p:cNvPicPr>
            <a:picLocks noChangeAspect="1"/>
          </p:cNvPicPr>
          <p:nvPr/>
        </p:nvPicPr>
        <p:blipFill>
          <a:blip r:embed="rId4"/>
          <a:stretch>
            <a:fillRect/>
          </a:stretch>
        </p:blipFill>
        <p:spPr>
          <a:xfrm>
            <a:off x="6652260" y="4229100"/>
            <a:ext cx="411480" cy="411480"/>
          </a:xfrm>
          <a:prstGeom prst="rect">
            <a:avLst/>
          </a:prstGeom>
        </p:spPr>
      </p:pic>
      <p:sp>
        <p:nvSpPr>
          <p:cNvPr id="22" name="Text 16"/>
          <p:cNvSpPr txBox="1"/>
          <p:nvPr/>
        </p:nvSpPr>
        <p:spPr>
          <a:xfrm>
            <a:off x="7498080" y="4023360"/>
            <a:ext cx="3840480" cy="457200"/>
          </a:xfrm>
          <a:prstGeom prst="rect">
            <a:avLst/>
          </a:prstGeom>
          <a:noFill/>
          <a:ln/>
        </p:spPr>
        <p:txBody>
          <a:bodyPr wrap="square" lIns="0" tIns="0" rIns="0" bIns="0" rtlCol="0" anchor="t"/>
          <a:lstStyle/>
          <a:p>
            <a:pPr indent="0" marL="0">
              <a:buNone/>
            </a:pPr>
            <a:r>
              <a:rPr lang="en-US" sz="2200" b="1" dirty="0">
                <a:solidFill>
                  <a:schemeClr val="accent3"/>
                </a:solidFill>
              </a:rPr>
              <a:t>REJECTED</a:t>
            </a:r>
            <a:endParaRPr lang="en-US" sz="2200" dirty="0"/>
          </a:p>
        </p:txBody>
      </p:sp>
      <p:sp>
        <p:nvSpPr>
          <p:cNvPr id="23" name="Text 17"/>
          <p:cNvSpPr txBox="1"/>
          <p:nvPr/>
        </p:nvSpPr>
        <p:spPr>
          <a:xfrm>
            <a:off x="7498080" y="4526280"/>
            <a:ext cx="3840480" cy="1097280"/>
          </a:xfrm>
          <a:prstGeom prst="rect">
            <a:avLst/>
          </a:prstGeom>
          <a:noFill/>
          <a:ln/>
        </p:spPr>
        <p:txBody>
          <a:bodyPr wrap="square" lIns="0" tIns="0" rIns="0" bIns="0" rtlCol="0" anchor="t"/>
          <a:lstStyle/>
          <a:p>
            <a:pPr indent="0" marL="0">
              <a:buNone/>
            </a:pPr>
            <a:r>
              <a:rPr lang="en-US" sz="1500" dirty="0">
                <a:solidFill>
                  <a:schemeClr val="tx1"/>
                </a:solidFill>
              </a:rPr>
              <a:t>Closed, a requirement not met, not fully funded, or a scam. You get the reason.</a:t>
            </a:r>
            <a:endParaRPr lang="en-US" sz="1500" dirty="0"/>
          </a:p>
        </p:txBody>
      </p:sp>
      <p:sp>
        <p:nvSpPr>
          <p:cNvPr id="24" name="Text 18"/>
          <p:cNvSpPr txBox="1"/>
          <p:nvPr/>
        </p:nvSpPr>
        <p:spPr>
          <a:xfrm>
            <a:off x="548640" y="5943600"/>
            <a:ext cx="11064240" cy="365760"/>
          </a:xfrm>
          <a:prstGeom prst="rect">
            <a:avLst/>
          </a:prstGeom>
          <a:noFill/>
          <a:ln/>
        </p:spPr>
        <p:txBody>
          <a:bodyPr wrap="square" lIns="0" tIns="0" rIns="0" bIns="0" rtlCol="0" anchor="t"/>
          <a:lstStyle/>
          <a:p>
            <a:pPr indent="0" marL="0">
              <a:buNone/>
            </a:pPr>
            <a:r>
              <a:rPr lang="en-US" sz="1400" i="1" dirty="0">
                <a:solidFill>
                  <a:schemeClr val="accent5"/>
                </a:solidFill>
              </a:rPr>
              <a:t>The score out of 10 is only a guide to help you prioritise. Always open the link yourself before applying.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Apply, then mark it done</a:t>
            </a:r>
            <a:endParaRPr lang="en-US" sz="3600" dirty="0"/>
          </a:p>
        </p:txBody>
      </p:sp>
      <p:sp>
        <p:nvSpPr>
          <p:cNvPr id="3" name="Step number circle"/>
          <p:cNvSpPr/>
          <p:nvPr/>
        </p:nvSpPr>
        <p:spPr>
          <a:xfrm>
            <a:off x="548640" y="1554480"/>
            <a:ext cx="1188720" cy="1188720"/>
          </a:xfrm>
          <a:prstGeom prst="ellipse">
            <a:avLst/>
          </a:prstGeom>
          <a:solidFill>
            <a:schemeClr val="accent1"/>
          </a:solidFill>
          <a:ln w="12700">
            <a:solidFill>
              <a:schemeClr val="accent1"/>
            </a:solidFill>
            <a:prstDash val="solid"/>
          </a:ln>
        </p:spPr>
      </p:sp>
      <p:sp>
        <p:nvSpPr>
          <p:cNvPr id="4" name="Text 2"/>
          <p:cNvSpPr txBox="1"/>
          <p:nvPr/>
        </p:nvSpPr>
        <p:spPr>
          <a:xfrm>
            <a:off x="548640" y="1554480"/>
            <a:ext cx="1188720" cy="1188720"/>
          </a:xfrm>
          <a:prstGeom prst="rect">
            <a:avLst/>
          </a:prstGeom>
          <a:noFill/>
          <a:ln/>
        </p:spPr>
        <p:txBody>
          <a:bodyPr wrap="square" lIns="0" tIns="0" rIns="0" bIns="0" rtlCol="0" anchor="ctr"/>
          <a:lstStyle/>
          <a:p>
            <a:pPr algn="ctr" indent="0" marL="0">
              <a:buNone/>
            </a:pPr>
            <a:r>
              <a:rPr lang="en-US" sz="4400" b="1" dirty="0">
                <a:solidFill>
                  <a:schemeClr val="bg1"/>
                </a:solidFill>
                <a:latin typeface="Cambria" pitchFamily="34" charset="0"/>
                <a:ea typeface="Cambria" pitchFamily="34" charset="-122"/>
                <a:cs typeface="Cambria" pitchFamily="34" charset="-120"/>
              </a:rPr>
              <a:t>6</a:t>
            </a:r>
            <a:endParaRPr lang="en-US" sz="4400" dirty="0"/>
          </a:p>
        </p:txBody>
      </p:sp>
      <p:sp>
        <p:nvSpPr>
          <p:cNvPr id="5" name="Text 3"/>
          <p:cNvSpPr txBox="1"/>
          <p:nvPr/>
        </p:nvSpPr>
        <p:spPr>
          <a:xfrm>
            <a:off x="548640" y="2880360"/>
            <a:ext cx="1463040" cy="320040"/>
          </a:xfrm>
          <a:prstGeom prst="rect">
            <a:avLst/>
          </a:prstGeom>
          <a:noFill/>
          <a:ln/>
        </p:spPr>
        <p:txBody>
          <a:bodyPr wrap="square" lIns="0" tIns="0" rIns="0" bIns="0" rtlCol="0" anchor="t"/>
          <a:lstStyle/>
          <a:p>
            <a:pPr indent="0" marL="0">
              <a:buNone/>
            </a:pPr>
            <a:r>
              <a:rPr lang="en-US" sz="1200" b="1" spc="100" kern="0" dirty="0">
                <a:solidFill>
                  <a:schemeClr val="accent1"/>
                </a:solidFill>
              </a:rPr>
              <a:t>STEP 6 OF 6</a:t>
            </a:r>
            <a:endParaRPr lang="en-US" sz="1200" dirty="0"/>
          </a:p>
        </p:txBody>
      </p:sp>
      <p:sp>
        <p:nvSpPr>
          <p:cNvPr id="6" name="Text 4"/>
          <p:cNvSpPr txBox="1"/>
          <p:nvPr/>
        </p:nvSpPr>
        <p:spPr>
          <a:xfrm>
            <a:off x="2194560" y="1554480"/>
            <a:ext cx="4846320" cy="4389120"/>
          </a:xfrm>
          <a:prstGeom prst="rect">
            <a:avLst/>
          </a:prstGeom>
          <a:noFill/>
          <a:ln/>
        </p:spPr>
        <p:txBody>
          <a:bodyPr wrap="square" lIns="0" tIns="0" rIns="0" bIns="0" rtlCol="0" anchor="t"/>
          <a:lstStyle/>
          <a:p>
            <a:pPr marL="342900" indent="-342900">
              <a:spcAft>
                <a:spcPts val="1200"/>
              </a:spcAft>
              <a:buSzPct val="100000"/>
              <a:buFont typeface="+mj-lt"/>
              <a:buAutoNum type="arabicPeriod" startAt="1"/>
            </a:pPr>
            <a:r>
              <a:rPr lang="en-US" sz="1800" dirty="0">
                <a:solidFill>
                  <a:schemeClr val="tx1"/>
                </a:solidFill>
              </a:rPr>
              <a:t>Type PROCEED and the opportunity's name.</a:t>
            </a:r>
            <a:endParaRPr lang="en-US" sz="1800" dirty="0"/>
          </a:p>
          <a:p>
            <a:pPr marL="342900" indent="-342900">
              <a:spcAft>
                <a:spcPts val="1200"/>
              </a:spcAft>
              <a:buSzPct val="100000"/>
              <a:buFont typeface="+mj-lt"/>
              <a:buAutoNum type="arabicPeriod" startAt="1"/>
            </a:pPr>
            <a:r>
              <a:rPr lang="en-US" sz="1800" dirty="0">
                <a:solidFill>
                  <a:schemeClr val="tx1"/>
                </a:solidFill>
              </a:rPr>
              <a:t>The AI writes a tailored CV and cover letter (or personal statement) following your country's style.</a:t>
            </a:r>
            <a:endParaRPr lang="en-US" sz="1800" dirty="0"/>
          </a:p>
          <a:p>
            <a:pPr marL="342900" indent="-342900">
              <a:spcAft>
                <a:spcPts val="1200"/>
              </a:spcAft>
              <a:buSzPct val="100000"/>
              <a:buFont typeface="+mj-lt"/>
              <a:buAutoNum type="arabicPeriod" startAt="1"/>
            </a:pPr>
            <a:r>
              <a:rPr lang="en-US" sz="1800" dirty="0">
                <a:solidFill>
                  <a:schemeClr val="tx1"/>
                </a:solidFill>
              </a:rPr>
              <a:t>Check every line, add one sentence in your own words, then apply yourself.</a:t>
            </a:r>
            <a:endParaRPr lang="en-US" sz="1800" dirty="0"/>
          </a:p>
          <a:p>
            <a:pPr marL="342900" indent="-342900">
              <a:spcAft>
                <a:spcPts val="1200"/>
              </a:spcAft>
              <a:buSzPct val="100000"/>
              <a:buFont typeface="+mj-lt"/>
              <a:buAutoNum type="arabicPeriod" startAt="1"/>
            </a:pPr>
            <a:r>
              <a:rPr lang="en-US" sz="1800" dirty="0">
                <a:solidFill>
                  <a:schemeClr val="tx1"/>
                </a:solidFill>
              </a:rPr>
              <a:t>Type APPLIED so it isn't suggested again.</a:t>
            </a:r>
            <a:endParaRPr lang="en-US" sz="1800" dirty="0"/>
          </a:p>
        </p:txBody>
      </p:sp>
      <p:sp>
        <p:nvSpPr>
          <p:cNvPr id="7" name="Tip card"/>
          <p:cNvSpPr/>
          <p:nvPr/>
        </p:nvSpPr>
        <p:spPr>
          <a:xfrm>
            <a:off x="7406640" y="1554480"/>
            <a:ext cx="4206240" cy="3566160"/>
          </a:xfrm>
          <a:prstGeom prst="roundRect">
            <a:avLst>
              <a:gd name="adj" fmla="val 3077"/>
            </a:avLst>
          </a:prstGeom>
          <a:solidFill>
            <a:schemeClr val="bg2"/>
          </a:solidFill>
          <a:ln w="12700">
            <a:solidFill>
              <a:schemeClr val="bg2"/>
            </a:solidFill>
            <a:prstDash val="solid"/>
          </a:ln>
        </p:spPr>
      </p:sp>
      <p:sp>
        <p:nvSpPr>
          <p:cNvPr id="8" name="Tip circle"/>
          <p:cNvSpPr/>
          <p:nvPr/>
        </p:nvSpPr>
        <p:spPr>
          <a:xfrm>
            <a:off x="7726680" y="1828800"/>
            <a:ext cx="731520" cy="731520"/>
          </a:xfrm>
          <a:prstGeom prst="ellipse">
            <a:avLst/>
          </a:prstGeom>
          <a:solidFill>
            <a:schemeClr val="accent2"/>
          </a:solidFill>
          <a:ln w="12700">
            <a:solidFill>
              <a:schemeClr val="accent2"/>
            </a:solidFill>
            <a:prstDash val="solid"/>
          </a:ln>
        </p:spPr>
      </p:sp>
      <p:pic>
        <p:nvPicPr>
          <p:cNvPr id="9" name="Tip icon" descr="Tip">    </p:cNvPr>
          <p:cNvPicPr>
            <a:picLocks noChangeAspect="1"/>
          </p:cNvPicPr>
          <p:nvPr/>
        </p:nvPicPr>
        <p:blipFill>
          <a:blip r:embed="rId1"/>
          <a:stretch>
            <a:fillRect/>
          </a:stretch>
        </p:blipFill>
        <p:spPr>
          <a:xfrm>
            <a:off x="7909560" y="2011680"/>
            <a:ext cx="365760" cy="365760"/>
          </a:xfrm>
          <a:prstGeom prst="rect">
            <a:avLst/>
          </a:prstGeom>
        </p:spPr>
      </p:pic>
      <p:sp>
        <p:nvSpPr>
          <p:cNvPr id="10" name="Text 7"/>
          <p:cNvSpPr txBox="1"/>
          <p:nvPr/>
        </p:nvSpPr>
        <p:spPr>
          <a:xfrm>
            <a:off x="7726680" y="2743200"/>
            <a:ext cx="3611880" cy="219456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You stay in control</a:t>
            </a:r>
            <a:endParaRPr lang="en-US" sz="1600" dirty="0"/>
          </a:p>
          <a:p>
            <a:pPr indent="0" marL="0">
              <a:spcAft>
                <a:spcPts val="800"/>
              </a:spcAft>
              <a:buNone/>
            </a:pPr>
            <a:r>
              <a:rPr lang="en-US" sz="1600" dirty="0">
                <a:solidFill>
                  <a:schemeClr val="tx1"/>
                </a:solidFill>
              </a:rPr>
              <a:t>It never applies or sends emails for you. Send a screenshot of any application form and it will help you answer the questions honestly.</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Use it every day in about 10 minutes</a:t>
            </a:r>
            <a:endParaRPr lang="en-US" sz="3600" dirty="0"/>
          </a:p>
        </p:txBody>
      </p:sp>
      <p:sp>
        <p:nvSpPr>
          <p:cNvPr id="3" name="Daily 1 circle"/>
          <p:cNvSpPr/>
          <p:nvPr/>
        </p:nvSpPr>
        <p:spPr>
          <a:xfrm>
            <a:off x="548640" y="1508760"/>
            <a:ext cx="777240" cy="777240"/>
          </a:xfrm>
          <a:prstGeom prst="ellipse">
            <a:avLst/>
          </a:prstGeom>
          <a:solidFill>
            <a:schemeClr val="accent1"/>
          </a:solidFill>
          <a:ln w="12700">
            <a:solidFill>
              <a:schemeClr val="accent1"/>
            </a:solidFill>
            <a:prstDash val="solid"/>
          </a:ln>
        </p:spPr>
      </p:sp>
      <p:pic>
        <p:nvPicPr>
          <p:cNvPr id="4" name="Daily 1 icon" descr="Daily 1">    </p:cNvPr>
          <p:cNvPicPr>
            <a:picLocks noChangeAspect="1"/>
          </p:cNvPicPr>
          <p:nvPr/>
        </p:nvPicPr>
        <p:blipFill>
          <a:blip r:embed="rId1"/>
          <a:stretch>
            <a:fillRect/>
          </a:stretch>
        </p:blipFill>
        <p:spPr>
          <a:xfrm>
            <a:off x="742950" y="1703070"/>
            <a:ext cx="388620" cy="388620"/>
          </a:xfrm>
          <a:prstGeom prst="rect">
            <a:avLst/>
          </a:prstGeom>
        </p:spPr>
      </p:pic>
      <p:sp>
        <p:nvSpPr>
          <p:cNvPr id="5" name="Text 2"/>
          <p:cNvSpPr txBox="1"/>
          <p:nvPr/>
        </p:nvSpPr>
        <p:spPr>
          <a:xfrm>
            <a:off x="1554480" y="1508760"/>
            <a:ext cx="5669280" cy="777240"/>
          </a:xfrm>
          <a:prstGeom prst="rect">
            <a:avLst/>
          </a:prstGeom>
          <a:noFill/>
          <a:ln/>
        </p:spPr>
        <p:txBody>
          <a:bodyPr wrap="square" lIns="0" tIns="0" rIns="0" bIns="0" rtlCol="0" anchor="ctr"/>
          <a:lstStyle/>
          <a:p>
            <a:pPr indent="0" marL="0">
              <a:buNone/>
            </a:pPr>
            <a:r>
              <a:rPr lang="en-US" sz="1800" dirty="0">
                <a:solidFill>
                  <a:schemeClr val="tx1"/>
                </a:solidFill>
              </a:rPr>
              <a:t>Paste the prompt, your profile and your tracker into a new chat, and type DAILY</a:t>
            </a:r>
            <a:endParaRPr lang="en-US" sz="1800" dirty="0"/>
          </a:p>
        </p:txBody>
      </p:sp>
      <p:sp>
        <p:nvSpPr>
          <p:cNvPr id="6" name="Daily 2 circle"/>
          <p:cNvSpPr/>
          <p:nvPr/>
        </p:nvSpPr>
        <p:spPr>
          <a:xfrm>
            <a:off x="548640" y="2606040"/>
            <a:ext cx="777240" cy="777240"/>
          </a:xfrm>
          <a:prstGeom prst="ellipse">
            <a:avLst/>
          </a:prstGeom>
          <a:solidFill>
            <a:schemeClr val="accent1"/>
          </a:solidFill>
          <a:ln w="12700">
            <a:solidFill>
              <a:schemeClr val="accent1"/>
            </a:solidFill>
            <a:prstDash val="solid"/>
          </a:ln>
        </p:spPr>
      </p:sp>
      <p:pic>
        <p:nvPicPr>
          <p:cNvPr id="7" name="Daily 2 icon" descr="Daily 2">    </p:cNvPr>
          <p:cNvPicPr>
            <a:picLocks noChangeAspect="1"/>
          </p:cNvPicPr>
          <p:nvPr/>
        </p:nvPicPr>
        <p:blipFill>
          <a:blip r:embed="rId2"/>
          <a:stretch>
            <a:fillRect/>
          </a:stretch>
        </p:blipFill>
        <p:spPr>
          <a:xfrm>
            <a:off x="742950" y="2800350"/>
            <a:ext cx="388620" cy="388620"/>
          </a:xfrm>
          <a:prstGeom prst="rect">
            <a:avLst/>
          </a:prstGeom>
        </p:spPr>
      </p:pic>
      <p:sp>
        <p:nvSpPr>
          <p:cNvPr id="8" name="Text 4"/>
          <p:cNvSpPr txBox="1"/>
          <p:nvPr/>
        </p:nvSpPr>
        <p:spPr>
          <a:xfrm>
            <a:off x="1554480" y="2606040"/>
            <a:ext cx="5669280" cy="777240"/>
          </a:xfrm>
          <a:prstGeom prst="rect">
            <a:avLst/>
          </a:prstGeom>
          <a:noFill/>
          <a:ln/>
        </p:spPr>
        <p:txBody>
          <a:bodyPr wrap="square" lIns="0" tIns="0" rIns="0" bIns="0" rtlCol="0" anchor="ctr"/>
          <a:lstStyle/>
          <a:p>
            <a:pPr indent="0" marL="0">
              <a:buNone/>
            </a:pPr>
            <a:r>
              <a:rPr lang="en-US" sz="1800" dirty="0">
                <a:solidFill>
                  <a:schemeClr val="tx1"/>
                </a:solidFill>
              </a:rPr>
              <a:t>It reminds you of deadlines and re-checks that your saved opportunities are still open</a:t>
            </a:r>
            <a:endParaRPr lang="en-US" sz="1800" dirty="0"/>
          </a:p>
        </p:txBody>
      </p:sp>
      <p:sp>
        <p:nvSpPr>
          <p:cNvPr id="9" name="Daily 3 circle"/>
          <p:cNvSpPr/>
          <p:nvPr/>
        </p:nvSpPr>
        <p:spPr>
          <a:xfrm>
            <a:off x="548640" y="3703320"/>
            <a:ext cx="777240" cy="777240"/>
          </a:xfrm>
          <a:prstGeom prst="ellipse">
            <a:avLst/>
          </a:prstGeom>
          <a:solidFill>
            <a:schemeClr val="accent1"/>
          </a:solidFill>
          <a:ln w="12700">
            <a:solidFill>
              <a:schemeClr val="accent1"/>
            </a:solidFill>
            <a:prstDash val="solid"/>
          </a:ln>
        </p:spPr>
      </p:sp>
      <p:pic>
        <p:nvPicPr>
          <p:cNvPr id="10" name="Daily 3 icon" descr="Daily 3">    </p:cNvPr>
          <p:cNvPicPr>
            <a:picLocks noChangeAspect="1"/>
          </p:cNvPicPr>
          <p:nvPr/>
        </p:nvPicPr>
        <p:blipFill>
          <a:blip r:embed="rId3"/>
          <a:stretch>
            <a:fillRect/>
          </a:stretch>
        </p:blipFill>
        <p:spPr>
          <a:xfrm>
            <a:off x="742950" y="3897630"/>
            <a:ext cx="388620" cy="388620"/>
          </a:xfrm>
          <a:prstGeom prst="rect">
            <a:avLst/>
          </a:prstGeom>
        </p:spPr>
      </p:pic>
      <p:sp>
        <p:nvSpPr>
          <p:cNvPr id="11" name="Text 6"/>
          <p:cNvSpPr txBox="1"/>
          <p:nvPr/>
        </p:nvSpPr>
        <p:spPr>
          <a:xfrm>
            <a:off x="1554480" y="3703320"/>
            <a:ext cx="5669280" cy="777240"/>
          </a:xfrm>
          <a:prstGeom prst="rect">
            <a:avLst/>
          </a:prstGeom>
          <a:noFill/>
          <a:ln/>
        </p:spPr>
        <p:txBody>
          <a:bodyPr wrap="square" lIns="0" tIns="0" rIns="0" bIns="0" rtlCol="0" anchor="ctr"/>
          <a:lstStyle/>
          <a:p>
            <a:pPr indent="0" marL="0">
              <a:buNone/>
            </a:pPr>
            <a:r>
              <a:rPr lang="en-US" sz="1800" dirty="0">
                <a:solidFill>
                  <a:schemeClr val="tx1"/>
                </a:solidFill>
              </a:rPr>
              <a:t>It runs a fresh search, skipping anything you've already applied for</a:t>
            </a:r>
            <a:endParaRPr lang="en-US" sz="1800" dirty="0"/>
          </a:p>
        </p:txBody>
      </p:sp>
      <p:sp>
        <p:nvSpPr>
          <p:cNvPr id="12" name="Daily 4 circle"/>
          <p:cNvSpPr/>
          <p:nvPr/>
        </p:nvSpPr>
        <p:spPr>
          <a:xfrm>
            <a:off x="548640" y="4800600"/>
            <a:ext cx="777240" cy="777240"/>
          </a:xfrm>
          <a:prstGeom prst="ellipse">
            <a:avLst/>
          </a:prstGeom>
          <a:solidFill>
            <a:schemeClr val="accent1"/>
          </a:solidFill>
          <a:ln w="12700">
            <a:solidFill>
              <a:schemeClr val="accent1"/>
            </a:solidFill>
            <a:prstDash val="solid"/>
          </a:ln>
        </p:spPr>
      </p:sp>
      <p:pic>
        <p:nvPicPr>
          <p:cNvPr id="13" name="Daily 4 icon" descr="Daily 4">    </p:cNvPr>
          <p:cNvPicPr>
            <a:picLocks noChangeAspect="1"/>
          </p:cNvPicPr>
          <p:nvPr/>
        </p:nvPicPr>
        <p:blipFill>
          <a:blip r:embed="rId4"/>
          <a:stretch>
            <a:fillRect/>
          </a:stretch>
        </p:blipFill>
        <p:spPr>
          <a:xfrm>
            <a:off x="742950" y="4994910"/>
            <a:ext cx="388620" cy="388620"/>
          </a:xfrm>
          <a:prstGeom prst="rect">
            <a:avLst/>
          </a:prstGeom>
        </p:spPr>
      </p:pic>
      <p:sp>
        <p:nvSpPr>
          <p:cNvPr id="14" name="Text 8"/>
          <p:cNvSpPr txBox="1"/>
          <p:nvPr/>
        </p:nvSpPr>
        <p:spPr>
          <a:xfrm>
            <a:off x="1554480" y="4800600"/>
            <a:ext cx="5669280" cy="777240"/>
          </a:xfrm>
          <a:prstGeom prst="rect">
            <a:avLst/>
          </a:prstGeom>
          <a:noFill/>
          <a:ln/>
        </p:spPr>
        <p:txBody>
          <a:bodyPr wrap="square" lIns="0" tIns="0" rIns="0" bIns="0" rtlCol="0" anchor="ctr"/>
          <a:lstStyle/>
          <a:p>
            <a:pPr indent="0" marL="0">
              <a:buNone/>
            </a:pPr>
            <a:r>
              <a:rPr lang="en-US" sz="1800" dirty="0">
                <a:solidFill>
                  <a:schemeClr val="tx1"/>
                </a:solidFill>
              </a:rPr>
              <a:t>Save the updated tracker privately before you close the chat</a:t>
            </a:r>
            <a:endParaRPr lang="en-US" sz="1800" dirty="0"/>
          </a:p>
        </p:txBody>
      </p:sp>
      <p:sp>
        <p:nvSpPr>
          <p:cNvPr id="15" name="Free plan box"/>
          <p:cNvSpPr/>
          <p:nvPr/>
        </p:nvSpPr>
        <p:spPr>
          <a:xfrm>
            <a:off x="7680960" y="1508760"/>
            <a:ext cx="3931920" cy="3108960"/>
          </a:xfrm>
          <a:prstGeom prst="roundRect">
            <a:avLst>
              <a:gd name="adj" fmla="val 3529"/>
            </a:avLst>
          </a:prstGeom>
          <a:solidFill>
            <a:schemeClr val="tx2"/>
          </a:solidFill>
          <a:ln w="12700">
            <a:solidFill>
              <a:schemeClr val="tx2"/>
            </a:solidFill>
            <a:prstDash val="solid"/>
          </a:ln>
        </p:spPr>
      </p:sp>
      <p:sp>
        <p:nvSpPr>
          <p:cNvPr id="16" name="Text 10"/>
          <p:cNvSpPr txBox="1"/>
          <p:nvPr/>
        </p:nvSpPr>
        <p:spPr>
          <a:xfrm>
            <a:off x="8001000" y="1783080"/>
            <a:ext cx="3383280" cy="457200"/>
          </a:xfrm>
          <a:prstGeom prst="rect">
            <a:avLst/>
          </a:prstGeom>
          <a:noFill/>
          <a:ln/>
        </p:spPr>
        <p:txBody>
          <a:bodyPr wrap="square" lIns="0" tIns="0" rIns="0" bIns="0" rtlCol="0" anchor="t"/>
          <a:lstStyle/>
          <a:p>
            <a:pPr indent="0" marL="0">
              <a:buNone/>
            </a:pPr>
            <a:r>
              <a:rPr lang="en-US" sz="2200" b="1" dirty="0">
                <a:solidFill>
                  <a:schemeClr val="accent2"/>
                </a:solidFill>
              </a:rPr>
              <a:t>On a free plan?</a:t>
            </a:r>
            <a:endParaRPr lang="en-US" sz="2200" dirty="0"/>
          </a:p>
        </p:txBody>
      </p:sp>
      <p:sp>
        <p:nvSpPr>
          <p:cNvPr id="17" name="Text 11"/>
          <p:cNvSpPr txBox="1"/>
          <p:nvPr/>
        </p:nvSpPr>
        <p:spPr>
          <a:xfrm>
            <a:off x="8001000" y="2377440"/>
            <a:ext cx="3383280" cy="2103120"/>
          </a:xfrm>
          <a:prstGeom prst="rect">
            <a:avLst/>
          </a:prstGeom>
          <a:noFill/>
          <a:ln/>
        </p:spPr>
        <p:txBody>
          <a:bodyPr wrap="square" lIns="0" tIns="0" rIns="0" bIns="0" rtlCol="0" anchor="t"/>
          <a:lstStyle/>
          <a:p>
            <a:pPr indent="0" marL="0">
              <a:buNone/>
            </a:pPr>
            <a:r>
              <a:rPr lang="en-US" sz="1700" dirty="0">
                <a:solidFill>
                  <a:schemeClr val="bg1"/>
                </a:solidFill>
              </a:rPr>
              <a:t>A full SEARCH ALL can use 30–40 web searches. Run one command a day, such as SEARCH JOBS, so you don't hit your message limit halfway through.</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Stay safe and honest</a:t>
            </a:r>
            <a:endParaRPr lang="en-US" sz="3600" dirty="0"/>
          </a:p>
        </p:txBody>
      </p:sp>
      <p:sp>
        <p:nvSpPr>
          <p:cNvPr id="3" name="Spot scams card"/>
          <p:cNvSpPr/>
          <p:nvPr/>
        </p:nvSpPr>
        <p:spPr>
          <a:xfrm>
            <a:off x="548640" y="1508760"/>
            <a:ext cx="3566160" cy="4434840"/>
          </a:xfrm>
          <a:prstGeom prst="roundRect">
            <a:avLst>
              <a:gd name="adj" fmla="val 3077"/>
            </a:avLst>
          </a:prstGeom>
          <a:solidFill>
            <a:schemeClr val="bg2"/>
          </a:solidFill>
          <a:ln w="12700">
            <a:solidFill>
              <a:schemeClr val="bg2"/>
            </a:solidFill>
            <a:prstDash val="solid"/>
          </a:ln>
        </p:spPr>
      </p:sp>
      <p:sp>
        <p:nvSpPr>
          <p:cNvPr id="4" name="Spot scams circle"/>
          <p:cNvSpPr/>
          <p:nvPr/>
        </p:nvSpPr>
        <p:spPr>
          <a:xfrm>
            <a:off x="822960" y="1783080"/>
            <a:ext cx="914400" cy="914400"/>
          </a:xfrm>
          <a:prstGeom prst="ellipse">
            <a:avLst/>
          </a:prstGeom>
          <a:solidFill>
            <a:schemeClr val="accent1"/>
          </a:solidFill>
          <a:ln w="12700">
            <a:solidFill>
              <a:schemeClr val="accent1"/>
            </a:solidFill>
            <a:prstDash val="solid"/>
          </a:ln>
        </p:spPr>
      </p:sp>
      <p:pic>
        <p:nvPicPr>
          <p:cNvPr id="5" name="Spot scams icon" descr="Spot scams">    </p:cNvPr>
          <p:cNvPicPr>
            <a:picLocks noChangeAspect="1"/>
          </p:cNvPicPr>
          <p:nvPr/>
        </p:nvPicPr>
        <p:blipFill>
          <a:blip r:embed="rId1"/>
          <a:stretch>
            <a:fillRect/>
          </a:stretch>
        </p:blipFill>
        <p:spPr>
          <a:xfrm>
            <a:off x="1051560" y="2011680"/>
            <a:ext cx="457200" cy="457200"/>
          </a:xfrm>
          <a:prstGeom prst="rect">
            <a:avLst/>
          </a:prstGeom>
        </p:spPr>
      </p:pic>
      <p:sp>
        <p:nvSpPr>
          <p:cNvPr id="6" name="Text 3"/>
          <p:cNvSpPr txBox="1"/>
          <p:nvPr/>
        </p:nvSpPr>
        <p:spPr>
          <a:xfrm>
            <a:off x="822960" y="2880360"/>
            <a:ext cx="3017520" cy="502920"/>
          </a:xfrm>
          <a:prstGeom prst="rect">
            <a:avLst/>
          </a:prstGeom>
          <a:noFill/>
          <a:ln/>
        </p:spPr>
        <p:txBody>
          <a:bodyPr wrap="square" lIns="0" tIns="0" rIns="0" bIns="0" rtlCol="0" anchor="t"/>
          <a:lstStyle/>
          <a:p>
            <a:pPr indent="0" marL="0">
              <a:buNone/>
            </a:pPr>
            <a:r>
              <a:rPr lang="en-US" sz="2100" b="1" dirty="0">
                <a:solidFill>
                  <a:schemeClr val="tx2"/>
                </a:solidFill>
              </a:rPr>
              <a:t>Spot scams</a:t>
            </a:r>
            <a:endParaRPr lang="en-US" sz="2100" dirty="0"/>
          </a:p>
        </p:txBody>
      </p:sp>
      <p:sp>
        <p:nvSpPr>
          <p:cNvPr id="7" name="Text 4"/>
          <p:cNvSpPr txBox="1"/>
          <p:nvPr/>
        </p:nvSpPr>
        <p:spPr>
          <a:xfrm>
            <a:off x="822960" y="3474720"/>
            <a:ext cx="3017520" cy="2331720"/>
          </a:xfrm>
          <a:prstGeom prst="rect">
            <a:avLst/>
          </a:prstGeom>
          <a:noFill/>
          <a:ln/>
        </p:spPr>
        <p:txBody>
          <a:bodyPr wrap="square" lIns="0" tIns="0" rIns="0" bIns="0" rtlCol="0" anchor="t"/>
          <a:lstStyle/>
          <a:p>
            <a:pPr indent="0" marL="0">
              <a:buNone/>
            </a:pPr>
            <a:r>
              <a:rPr lang="en-US" sz="1500" dirty="0">
                <a:solidFill>
                  <a:schemeClr val="tx1"/>
                </a:solidFill>
              </a:rPr>
              <a:t>Never pay an employer, recruiter or agent for a job, interview, training or sponsorship certificate. Official government visa fees, paid on the government's own website, are normal.</a:t>
            </a:r>
            <a:endParaRPr lang="en-US" sz="1500" dirty="0"/>
          </a:p>
        </p:txBody>
      </p:sp>
      <p:sp>
        <p:nvSpPr>
          <p:cNvPr id="8" name="Protect your data card"/>
          <p:cNvSpPr/>
          <p:nvPr/>
        </p:nvSpPr>
        <p:spPr>
          <a:xfrm>
            <a:off x="4325112" y="1508760"/>
            <a:ext cx="3566160" cy="4434840"/>
          </a:xfrm>
          <a:prstGeom prst="roundRect">
            <a:avLst>
              <a:gd name="adj" fmla="val 3077"/>
            </a:avLst>
          </a:prstGeom>
          <a:solidFill>
            <a:schemeClr val="bg2"/>
          </a:solidFill>
          <a:ln w="12700">
            <a:solidFill>
              <a:schemeClr val="bg2"/>
            </a:solidFill>
            <a:prstDash val="solid"/>
          </a:ln>
        </p:spPr>
      </p:sp>
      <p:sp>
        <p:nvSpPr>
          <p:cNvPr id="9" name="Protect your data circle"/>
          <p:cNvSpPr/>
          <p:nvPr/>
        </p:nvSpPr>
        <p:spPr>
          <a:xfrm>
            <a:off x="4599432" y="1783080"/>
            <a:ext cx="914400" cy="914400"/>
          </a:xfrm>
          <a:prstGeom prst="ellipse">
            <a:avLst/>
          </a:prstGeom>
          <a:solidFill>
            <a:schemeClr val="accent1"/>
          </a:solidFill>
          <a:ln w="12700">
            <a:solidFill>
              <a:schemeClr val="accent1"/>
            </a:solidFill>
            <a:prstDash val="solid"/>
          </a:ln>
        </p:spPr>
      </p:sp>
      <p:pic>
        <p:nvPicPr>
          <p:cNvPr id="10" name="Protect your data icon" descr="Protect your data">    </p:cNvPr>
          <p:cNvPicPr>
            <a:picLocks noChangeAspect="1"/>
          </p:cNvPicPr>
          <p:nvPr/>
        </p:nvPicPr>
        <p:blipFill>
          <a:blip r:embed="rId2"/>
          <a:stretch>
            <a:fillRect/>
          </a:stretch>
        </p:blipFill>
        <p:spPr>
          <a:xfrm>
            <a:off x="4828032" y="2011680"/>
            <a:ext cx="457200" cy="457200"/>
          </a:xfrm>
          <a:prstGeom prst="rect">
            <a:avLst/>
          </a:prstGeom>
        </p:spPr>
      </p:pic>
      <p:sp>
        <p:nvSpPr>
          <p:cNvPr id="11" name="Text 7"/>
          <p:cNvSpPr txBox="1"/>
          <p:nvPr/>
        </p:nvSpPr>
        <p:spPr>
          <a:xfrm>
            <a:off x="4599432" y="2880360"/>
            <a:ext cx="3017520" cy="502920"/>
          </a:xfrm>
          <a:prstGeom prst="rect">
            <a:avLst/>
          </a:prstGeom>
          <a:noFill/>
          <a:ln/>
        </p:spPr>
        <p:txBody>
          <a:bodyPr wrap="square" lIns="0" tIns="0" rIns="0" bIns="0" rtlCol="0" anchor="t"/>
          <a:lstStyle/>
          <a:p>
            <a:pPr indent="0" marL="0">
              <a:buNone/>
            </a:pPr>
            <a:r>
              <a:rPr lang="en-US" sz="2100" b="1" dirty="0">
                <a:solidFill>
                  <a:schemeClr val="tx2"/>
                </a:solidFill>
              </a:rPr>
              <a:t>Protect your data</a:t>
            </a:r>
            <a:endParaRPr lang="en-US" sz="2100" dirty="0"/>
          </a:p>
        </p:txBody>
      </p:sp>
      <p:sp>
        <p:nvSpPr>
          <p:cNvPr id="12" name="Text 8"/>
          <p:cNvSpPr txBox="1"/>
          <p:nvPr/>
        </p:nvSpPr>
        <p:spPr>
          <a:xfrm>
            <a:off x="4599432" y="3474720"/>
            <a:ext cx="3017520" cy="2331720"/>
          </a:xfrm>
          <a:prstGeom prst="rect">
            <a:avLst/>
          </a:prstGeom>
          <a:noFill/>
          <a:ln/>
        </p:spPr>
        <p:txBody>
          <a:bodyPr wrap="square" lIns="0" tIns="0" rIns="0" bIns="0" rtlCol="0" anchor="t"/>
          <a:lstStyle/>
          <a:p>
            <a:pPr indent="0" marL="0">
              <a:buNone/>
            </a:pPr>
            <a:r>
              <a:rPr lang="en-US" sz="1500" dirty="0">
                <a:solidFill>
                  <a:schemeClr val="tx1"/>
                </a:solidFill>
              </a:rPr>
              <a:t>Share only what you need. Don't post your profile publicly. Under 18? Follow your assistant's age rules and ask a parent, carer, teacher or careers adviser to help.</a:t>
            </a:r>
            <a:endParaRPr lang="en-US" sz="1500" dirty="0"/>
          </a:p>
        </p:txBody>
      </p:sp>
      <p:sp>
        <p:nvSpPr>
          <p:cNvPr id="13" name="Not legal advice card"/>
          <p:cNvSpPr/>
          <p:nvPr/>
        </p:nvSpPr>
        <p:spPr>
          <a:xfrm>
            <a:off x="8101584" y="1508760"/>
            <a:ext cx="3566160" cy="4434840"/>
          </a:xfrm>
          <a:prstGeom prst="roundRect">
            <a:avLst>
              <a:gd name="adj" fmla="val 3077"/>
            </a:avLst>
          </a:prstGeom>
          <a:solidFill>
            <a:schemeClr val="bg2"/>
          </a:solidFill>
          <a:ln w="12700">
            <a:solidFill>
              <a:schemeClr val="bg2"/>
            </a:solidFill>
            <a:prstDash val="solid"/>
          </a:ln>
        </p:spPr>
      </p:sp>
      <p:sp>
        <p:nvSpPr>
          <p:cNvPr id="14" name="Not legal advice circle"/>
          <p:cNvSpPr/>
          <p:nvPr/>
        </p:nvSpPr>
        <p:spPr>
          <a:xfrm>
            <a:off x="8375904" y="1783080"/>
            <a:ext cx="914400" cy="914400"/>
          </a:xfrm>
          <a:prstGeom prst="ellipse">
            <a:avLst/>
          </a:prstGeom>
          <a:solidFill>
            <a:schemeClr val="accent1"/>
          </a:solidFill>
          <a:ln w="12700">
            <a:solidFill>
              <a:schemeClr val="accent1"/>
            </a:solidFill>
            <a:prstDash val="solid"/>
          </a:ln>
        </p:spPr>
      </p:sp>
      <p:pic>
        <p:nvPicPr>
          <p:cNvPr id="15" name="Not legal advice icon" descr="Not legal advice">    </p:cNvPr>
          <p:cNvPicPr>
            <a:picLocks noChangeAspect="1"/>
          </p:cNvPicPr>
          <p:nvPr/>
        </p:nvPicPr>
        <p:blipFill>
          <a:blip r:embed="rId3"/>
          <a:stretch>
            <a:fillRect/>
          </a:stretch>
        </p:blipFill>
        <p:spPr>
          <a:xfrm>
            <a:off x="8604504" y="2011680"/>
            <a:ext cx="457200" cy="457200"/>
          </a:xfrm>
          <a:prstGeom prst="rect">
            <a:avLst/>
          </a:prstGeom>
        </p:spPr>
      </p:pic>
      <p:sp>
        <p:nvSpPr>
          <p:cNvPr id="16" name="Text 11"/>
          <p:cNvSpPr txBox="1"/>
          <p:nvPr/>
        </p:nvSpPr>
        <p:spPr>
          <a:xfrm>
            <a:off x="8375904" y="2880360"/>
            <a:ext cx="3017520" cy="502920"/>
          </a:xfrm>
          <a:prstGeom prst="rect">
            <a:avLst/>
          </a:prstGeom>
          <a:noFill/>
          <a:ln/>
        </p:spPr>
        <p:txBody>
          <a:bodyPr wrap="square" lIns="0" tIns="0" rIns="0" bIns="0" rtlCol="0" anchor="t"/>
          <a:lstStyle/>
          <a:p>
            <a:pPr indent="0" marL="0">
              <a:buNone/>
            </a:pPr>
            <a:r>
              <a:rPr lang="en-US" sz="2100" b="1" dirty="0">
                <a:solidFill>
                  <a:schemeClr val="tx2"/>
                </a:solidFill>
              </a:rPr>
              <a:t>Not legal advice</a:t>
            </a:r>
            <a:endParaRPr lang="en-US" sz="2100" dirty="0"/>
          </a:p>
        </p:txBody>
      </p:sp>
      <p:sp>
        <p:nvSpPr>
          <p:cNvPr id="17" name="Text 12"/>
          <p:cNvSpPr txBox="1"/>
          <p:nvPr/>
        </p:nvSpPr>
        <p:spPr>
          <a:xfrm>
            <a:off x="8375904" y="3474720"/>
            <a:ext cx="3017520" cy="2331720"/>
          </a:xfrm>
          <a:prstGeom prst="rect">
            <a:avLst/>
          </a:prstGeom>
          <a:noFill/>
          <a:ln/>
        </p:spPr>
        <p:txBody>
          <a:bodyPr wrap="square" lIns="0" tIns="0" rIns="0" bIns="0" rtlCol="0" anchor="t"/>
          <a:lstStyle/>
          <a:p>
            <a:pPr indent="0" marL="0">
              <a:buNone/>
            </a:pPr>
            <a:r>
              <a:rPr lang="en-US" sz="1500" dirty="0">
                <a:solidFill>
                  <a:schemeClr val="tx1"/>
                </a:solidFill>
              </a:rPr>
              <a:t>Visa and funding checks are a guide. Confirm the rules on official government and funder websites, or with a qualified adviser.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What has been tested so far</a:t>
            </a:r>
            <a:endParaRPr lang="en-US" sz="3600" dirty="0"/>
          </a:p>
        </p:txBody>
      </p:sp>
      <p:sp>
        <p:nvSpPr>
          <p:cNvPr id="3" name="Stat 1"/>
          <p:cNvSpPr/>
          <p:nvPr/>
        </p:nvSpPr>
        <p:spPr>
          <a:xfrm>
            <a:off x="548640" y="1508760"/>
            <a:ext cx="3566160" cy="2194560"/>
          </a:xfrm>
          <a:prstGeom prst="roundRect">
            <a:avLst>
              <a:gd name="adj" fmla="val 5000"/>
            </a:avLst>
          </a:prstGeom>
          <a:solidFill>
            <a:schemeClr val="bg2"/>
          </a:solidFill>
          <a:ln w="12700">
            <a:solidFill>
              <a:schemeClr val="bg2"/>
            </a:solidFill>
            <a:prstDash val="solid"/>
          </a:ln>
        </p:spPr>
      </p:sp>
      <p:sp>
        <p:nvSpPr>
          <p:cNvPr id="4" name="Text 2"/>
          <p:cNvSpPr txBox="1"/>
          <p:nvPr/>
        </p:nvSpPr>
        <p:spPr>
          <a:xfrm>
            <a:off x="822960" y="1691640"/>
            <a:ext cx="3017520" cy="100584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19 / 19</a:t>
            </a:r>
            <a:endParaRPr lang="en-US" sz="5400" dirty="0"/>
          </a:p>
        </p:txBody>
      </p:sp>
      <p:sp>
        <p:nvSpPr>
          <p:cNvPr id="5" name="Text 3"/>
          <p:cNvSpPr txBox="1"/>
          <p:nvPr/>
        </p:nvSpPr>
        <p:spPr>
          <a:xfrm>
            <a:off x="822960" y="2788920"/>
            <a:ext cx="3017520" cy="731520"/>
          </a:xfrm>
          <a:prstGeom prst="rect">
            <a:avLst/>
          </a:prstGeom>
          <a:noFill/>
          <a:ln/>
        </p:spPr>
        <p:txBody>
          <a:bodyPr wrap="square" lIns="0" tIns="0" rIns="0" bIns="0" rtlCol="0" anchor="t"/>
          <a:lstStyle/>
          <a:p>
            <a:pPr indent="0" marL="0">
              <a:buNone/>
            </a:pPr>
            <a:r>
              <a:rPr lang="en-US" sz="1600" dirty="0">
                <a:solidFill>
                  <a:schemeClr val="tx1"/>
                </a:solidFill>
              </a:rPr>
              <a:t>simulated tests passed</a:t>
            </a:r>
            <a:endParaRPr lang="en-US" sz="1600" dirty="0"/>
          </a:p>
        </p:txBody>
      </p:sp>
      <p:sp>
        <p:nvSpPr>
          <p:cNvPr id="6" name="Stat 2"/>
          <p:cNvSpPr/>
          <p:nvPr/>
        </p:nvSpPr>
        <p:spPr>
          <a:xfrm>
            <a:off x="4325112" y="1508760"/>
            <a:ext cx="3566160" cy="2194560"/>
          </a:xfrm>
          <a:prstGeom prst="roundRect">
            <a:avLst>
              <a:gd name="adj" fmla="val 5000"/>
            </a:avLst>
          </a:prstGeom>
          <a:solidFill>
            <a:schemeClr val="bg2"/>
          </a:solidFill>
          <a:ln w="12700">
            <a:solidFill>
              <a:schemeClr val="bg2"/>
            </a:solidFill>
            <a:prstDash val="solid"/>
          </a:ln>
        </p:spPr>
      </p:sp>
      <p:sp>
        <p:nvSpPr>
          <p:cNvPr id="7" name="Text 5"/>
          <p:cNvSpPr txBox="1"/>
          <p:nvPr/>
        </p:nvSpPr>
        <p:spPr>
          <a:xfrm>
            <a:off x="4599432" y="1691640"/>
            <a:ext cx="3017520" cy="100584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2 / 2</a:t>
            </a:r>
            <a:endParaRPr lang="en-US" sz="5400" dirty="0"/>
          </a:p>
        </p:txBody>
      </p:sp>
      <p:sp>
        <p:nvSpPr>
          <p:cNvPr id="8" name="Text 6"/>
          <p:cNvSpPr txBox="1"/>
          <p:nvPr/>
        </p:nvSpPr>
        <p:spPr>
          <a:xfrm>
            <a:off x="4599432" y="2788920"/>
            <a:ext cx="3017520" cy="731520"/>
          </a:xfrm>
          <a:prstGeom prst="rect">
            <a:avLst/>
          </a:prstGeom>
          <a:noFill/>
          <a:ln/>
        </p:spPr>
        <p:txBody>
          <a:bodyPr wrap="square" lIns="0" tIns="0" rIns="0" bIns="0" rtlCol="0" anchor="t"/>
          <a:lstStyle/>
          <a:p>
            <a:pPr indent="0" marL="0">
              <a:buNone/>
            </a:pPr>
            <a:r>
              <a:rPr lang="en-US" sz="1600" dirty="0">
                <a:solidFill>
                  <a:schemeClr val="tx1"/>
                </a:solidFill>
              </a:rPr>
              <a:t>live searches passed (UK and Germany)</a:t>
            </a:r>
            <a:endParaRPr lang="en-US" sz="1600" dirty="0"/>
          </a:p>
        </p:txBody>
      </p:sp>
      <p:sp>
        <p:nvSpPr>
          <p:cNvPr id="9" name="Stat 3"/>
          <p:cNvSpPr/>
          <p:nvPr/>
        </p:nvSpPr>
        <p:spPr>
          <a:xfrm>
            <a:off x="8101584" y="1508760"/>
            <a:ext cx="3566160" cy="2194560"/>
          </a:xfrm>
          <a:prstGeom prst="roundRect">
            <a:avLst>
              <a:gd name="adj" fmla="val 5000"/>
            </a:avLst>
          </a:prstGeom>
          <a:solidFill>
            <a:schemeClr val="bg2"/>
          </a:solidFill>
          <a:ln w="12700">
            <a:solidFill>
              <a:schemeClr val="bg2"/>
            </a:solidFill>
            <a:prstDash val="solid"/>
          </a:ln>
        </p:spPr>
      </p:sp>
      <p:sp>
        <p:nvSpPr>
          <p:cNvPr id="10" name="Text 8"/>
          <p:cNvSpPr txBox="1"/>
          <p:nvPr/>
        </p:nvSpPr>
        <p:spPr>
          <a:xfrm>
            <a:off x="8375904" y="1691640"/>
            <a:ext cx="3017520" cy="100584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a:t>
            </a:r>
            <a:endParaRPr lang="en-US" sz="5400" dirty="0"/>
          </a:p>
        </p:txBody>
      </p:sp>
      <p:sp>
        <p:nvSpPr>
          <p:cNvPr id="11" name="Text 9"/>
          <p:cNvSpPr txBox="1"/>
          <p:nvPr/>
        </p:nvSpPr>
        <p:spPr>
          <a:xfrm>
            <a:off x="8375904" y="2788920"/>
            <a:ext cx="3017520" cy="731520"/>
          </a:xfrm>
          <a:prstGeom prst="rect">
            <a:avLst/>
          </a:prstGeom>
          <a:noFill/>
          <a:ln/>
        </p:spPr>
        <p:txBody>
          <a:bodyPr wrap="square" lIns="0" tIns="0" rIns="0" bIns="0" rtlCol="0" anchor="t"/>
          <a:lstStyle/>
          <a:p>
            <a:pPr indent="0" marL="0">
              <a:buNone/>
            </a:pPr>
            <a:r>
              <a:rPr lang="en-US" sz="1600" dirty="0">
                <a:solidFill>
                  <a:schemeClr val="tx1"/>
                </a:solidFill>
              </a:rPr>
              <a:t>AI assistant tested so far (Claude)</a:t>
            </a:r>
            <a:endParaRPr lang="en-US" sz="1600" dirty="0"/>
          </a:p>
        </p:txBody>
      </p:sp>
      <p:sp>
        <p:nvSpPr>
          <p:cNvPr id="12" name="Beta circle"/>
          <p:cNvSpPr/>
          <p:nvPr/>
        </p:nvSpPr>
        <p:spPr>
          <a:xfrm>
            <a:off x="548640" y="4069080"/>
            <a:ext cx="777240" cy="777240"/>
          </a:xfrm>
          <a:prstGeom prst="ellipse">
            <a:avLst/>
          </a:prstGeom>
          <a:solidFill>
            <a:schemeClr val="accent2"/>
          </a:solidFill>
          <a:ln w="12700">
            <a:solidFill>
              <a:schemeClr val="accent2"/>
            </a:solidFill>
            <a:prstDash val="solid"/>
          </a:ln>
        </p:spPr>
      </p:sp>
      <p:pic>
        <p:nvPicPr>
          <p:cNvPr id="13" name="Beta icon" descr="Beta">    </p:cNvPr>
          <p:cNvPicPr>
            <a:picLocks noChangeAspect="1"/>
          </p:cNvPicPr>
          <p:nvPr/>
        </p:nvPicPr>
        <p:blipFill>
          <a:blip r:embed="rId1"/>
          <a:stretch>
            <a:fillRect/>
          </a:stretch>
        </p:blipFill>
        <p:spPr>
          <a:xfrm>
            <a:off x="742950" y="4263390"/>
            <a:ext cx="388620" cy="388620"/>
          </a:xfrm>
          <a:prstGeom prst="rect">
            <a:avLst/>
          </a:prstGeom>
        </p:spPr>
      </p:pic>
      <p:sp>
        <p:nvSpPr>
          <p:cNvPr id="14" name="Text 11"/>
          <p:cNvSpPr txBox="1"/>
          <p:nvPr/>
        </p:nvSpPr>
        <p:spPr>
          <a:xfrm>
            <a:off x="1554480" y="4069080"/>
            <a:ext cx="10058400" cy="1371600"/>
          </a:xfrm>
          <a:prstGeom prst="rect">
            <a:avLst/>
          </a:prstGeom>
          <a:noFill/>
          <a:ln/>
        </p:spPr>
        <p:txBody>
          <a:bodyPr wrap="square" lIns="0" tIns="0" rIns="0" bIns="0" rtlCol="0" anchor="t"/>
          <a:lstStyle/>
          <a:p>
            <a:pPr indent="0" marL="0">
              <a:buNone/>
            </a:pPr>
            <a:r>
              <a:rPr lang="en-US" sz="1600" b="1" dirty="0">
                <a:solidFill>
                  <a:schemeClr val="tx2"/>
                </a:solidFill>
              </a:rPr>
              <a:t>This is a Free Public Beta. </a:t>
            </a:r>
            <a:pPr indent="0" marL="0">
              <a:buNone/>
            </a:pPr>
            <a:r>
              <a:rPr lang="en-US" sz="1600" dirty="0">
                <a:solidFill>
                  <a:schemeClr val="tx1"/>
                </a:solidFill>
              </a:rPr>
              <a:t>Tests were run on 25 October 2026 in one assistant, and every live result was checked against the real page. It hasn't been tested in other assistants yet, so results may differ. AI can still make mistakes: always check the link yourself.</a:t>
            </a:r>
            <a:endParaRPr lang="en-US" sz="1600" dirty="0"/>
          </a:p>
        </p:txBody>
      </p:sp>
      <p:sp>
        <p:nvSpPr>
          <p:cNvPr id="15" name="Text 12"/>
          <p:cNvSpPr txBox="1"/>
          <p:nvPr/>
        </p:nvSpPr>
        <p:spPr>
          <a:xfrm>
            <a:off x="1554480" y="5577840"/>
            <a:ext cx="10058400" cy="365760"/>
          </a:xfrm>
          <a:prstGeom prst="rect">
            <a:avLst/>
          </a:prstGeom>
          <a:noFill/>
          <a:ln/>
        </p:spPr>
        <p:txBody>
          <a:bodyPr wrap="square" lIns="0" tIns="0" rIns="0" bIns="0" rtlCol="0" anchor="t"/>
          <a:lstStyle/>
          <a:p>
            <a:pPr indent="0" marL="0">
              <a:buNone/>
            </a:pPr>
            <a:r>
              <a:rPr lang="en-US" sz="1400" i="1" dirty="0">
                <a:solidFill>
                  <a:schemeClr val="accent5"/>
                </a:solidFill>
              </a:rPr>
              <a:t>Full results: TESTING.md on GitHub</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GitHub circle"/>
          <p:cNvSpPr/>
          <p:nvPr/>
        </p:nvSpPr>
        <p:spPr>
          <a:xfrm>
            <a:off x="731520" y="731520"/>
            <a:ext cx="914400" cy="914400"/>
          </a:xfrm>
          <a:prstGeom prst="ellipse">
            <a:avLst/>
          </a:prstGeom>
          <a:solidFill>
            <a:schemeClr val="accent1"/>
          </a:solidFill>
          <a:ln w="12700">
            <a:solidFill>
              <a:schemeClr val="accent1"/>
            </a:solidFill>
            <a:prstDash val="solid"/>
          </a:ln>
        </p:spPr>
      </p:sp>
      <p:pic>
        <p:nvPicPr>
          <p:cNvPr id="3" name="GitHub icon" descr="GitHub">    </p:cNvPr>
          <p:cNvPicPr>
            <a:picLocks noChangeAspect="1"/>
          </p:cNvPicPr>
          <p:nvPr/>
        </p:nvPicPr>
        <p:blipFill>
          <a:blip r:embed="rId1"/>
          <a:stretch>
            <a:fillRect/>
          </a:stretch>
        </p:blipFill>
        <p:spPr>
          <a:xfrm>
            <a:off x="960120" y="960120"/>
            <a:ext cx="457200" cy="457200"/>
          </a:xfrm>
          <a:prstGeom prst="rect">
            <a:avLst/>
          </a:prstGeom>
        </p:spPr>
      </p:pic>
      <p:sp>
        <p:nvSpPr>
          <p:cNvPr id="4" name="Text 0"/>
          <p:cNvSpPr/>
          <p:nvPr>
            <p:ph idx="100" type="title" hasCustomPrompt="1"/>
          </p:nvPr>
        </p:nvSpPr>
        <p:spPr>
          <a:xfrm>
            <a:off x="731520" y="2103120"/>
            <a:ext cx="10698480" cy="137160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Free for everyone, everywhere</a:t>
            </a:r>
            <a:endParaRPr lang="en-US" sz="4800" dirty="0"/>
          </a:p>
        </p:txBody>
      </p:sp>
      <p:sp>
        <p:nvSpPr>
          <p:cNvPr id="5" name="Text 0"/>
          <p:cNvSpPr/>
          <p:nvPr>
            <p:ph idx="101" type="body" hasCustomPrompt="1"/>
          </p:nvPr>
        </p:nvSpPr>
        <p:spPr>
          <a:xfrm>
            <a:off x="731520" y="3611880"/>
            <a:ext cx="10241280" cy="1280160"/>
          </a:xfrm>
          <a:prstGeom prst="rect">
            <a:avLst/>
          </a:prstGeom>
          <a:noFill/>
          <a:ln/>
        </p:spPr>
        <p:txBody>
          <a:bodyPr wrap="square" lIns="0" tIns="0" rIns="0" bIns="0" rtlCol="0" anchor="t"/>
          <a:lstStyle/>
          <a:p>
            <a:pPr algn="l" indent="0" marL="0">
              <a:buNone/>
            </a:pPr>
            <a:r>
              <a:rPr lang="en-US" sz="22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github.com/Abu1997-Pathan/ai-job-search-prompt</a:t>
            </a:r>
            <a:endParaRPr lang="en-US" sz="2200" dirty="0"/>
          </a:p>
          <a:p>
            <a:pPr algn="l" indent="0" marL="0">
              <a:buNone/>
            </a:pPr>
            <a:r>
              <a:rPr lang="en-US" sz="2200" dirty="0">
                <a:solidFill>
                  <a:srgbClr val="E2E8F0"/>
                </a:solidFill>
              </a:rPr>
              <a:t>Try it, share it with someone looking for their next step, and tell me how it goes. Found a problem? Open an issue on GitHub (no personal data, please).</a:t>
            </a:r>
            <a:endParaRPr lang="en-US" sz="2200" dirty="0"/>
          </a:p>
        </p:txBody>
      </p:sp>
      <p:sp>
        <p:nvSpPr>
          <p:cNvPr id="6" name="Text 3"/>
          <p:cNvSpPr txBox="1"/>
          <p:nvPr/>
        </p:nvSpPr>
        <p:spPr>
          <a:xfrm>
            <a:off x="731520" y="5989320"/>
            <a:ext cx="10058400" cy="365760"/>
          </a:xfrm>
          <a:prstGeom prst="rect">
            <a:avLst/>
          </a:prstGeom>
          <a:noFill/>
          <a:ln/>
        </p:spPr>
        <p:txBody>
          <a:bodyPr wrap="square" lIns="0" tIns="0" rIns="0" bIns="0" rtlCol="0" anchor="t"/>
          <a:lstStyle/>
          <a:p>
            <a:pPr indent="0" marL="0">
              <a:buNone/>
            </a:pPr>
            <a:r>
              <a:rPr lang="en-US" sz="1500" dirty="0">
                <a:solidFill>
                  <a:srgbClr val="5EB8AD"/>
                </a:solidFill>
              </a:rPr>
              <a:t>Abuhurairah Rahman Pathan · </a:t>
            </a:r>
            <a:pPr indent="0" marL="0">
              <a:buNone/>
            </a:pPr>
            <a:r>
              <a:rPr lang="en-US" sz="1500" u="sng" dirty="0">
                <a:solidFill>
                  <a:srgbClr val="5EB8AD"/>
                </a:solidFill>
                <a:hlinkClick r:id="rId3" invalidUrl="" action="" tgtFrame="" tooltip="" history="1" highlightClick="0" endSnd="0">
                  <a:extLst>
                    <a:ext uri="{A12FA001-AC4F-418D-AE19-62706E023703}">
                      <ahyp:hlinkClr xmlns:ahyp="http://schemas.microsoft.com/office/drawing/2018/hyperlinkcolor" val="tx"/>
                    </a:ext>
                  </a:extLst>
                </a:hlinkClick>
              </a:rPr>
              <a:t>LinkedIn</a:t>
            </a:r>
            <a:pPr indent="0" marL="0">
              <a:buNone/>
            </a:pPr>
            <a:r>
              <a:rPr lang="en-US" sz="1500" dirty="0">
                <a:solidFill>
                  <a:srgbClr val="5EB8AD"/>
                </a:solidFill>
              </a:rPr>
              <a:t> · Free under </a:t>
            </a:r>
            <a:pPr indent="0" marL="0">
              <a:buNone/>
            </a:pPr>
            <a:r>
              <a:rPr lang="en-US" sz="1500" u="sng" dirty="0">
                <a:solidFill>
                  <a:srgbClr val="5EB8AD"/>
                </a:solidFill>
                <a:hlinkClick r:id="rId4" invalidUrl="" action="" tgtFrame="" tooltip="" history="1" highlightClick="0" endSnd="0">
                  <a:extLst>
                    <a:ext uri="{A12FA001-AC4F-418D-AE19-62706E023703}">
                      <ahyp:hlinkClr xmlns:ahyp="http://schemas.microsoft.com/office/drawing/2018/hyperlinkcolor" val="tx"/>
                    </a:ext>
                  </a:extLst>
                </a:hlinkClick>
              </a:rPr>
              <a:t>CC BY 4.0</a:t>
            </a:r>
            <a:endParaRPr lang="en-US" sz="1500" dirty="0"/>
          </a:p>
        </p:txBody>
      </p:sp>
    </p:spTree>
  </p:cSld>
  <p:clrMapOvr>
    <a:masterClrMapping/>
  </p:clrMapOvr>
</p:sld>
</file>

<file path=ppt/theme/theme1.xml><?xml version="1.0" encoding="utf-8"?>
<a:theme xmlns:a="http://schemas.openxmlformats.org/drawingml/2006/main" name="AI Career Search">
  <a:themeElements>
    <a:clrScheme name="AI Career Search">
      <a:dk1>
        <a:srgbClr val="1C2A43"/>
      </a:dk1>
      <a:lt1>
        <a:srgbClr val="FFFFFF"/>
      </a:lt1>
      <a:dk2>
        <a:srgbClr val="1C2A43"/>
      </a:dk2>
      <a:lt2>
        <a:srgbClr val="E8F3F1"/>
      </a:lt2>
      <a:accent1>
        <a:srgbClr val="0F766E"/>
      </a:accent1>
      <a:accent2>
        <a:srgbClr val="F59E0B"/>
      </a:accent2>
      <a:accent3>
        <a:srgbClr val="B91C1C"/>
      </a:accent3>
      <a:accent4>
        <a:srgbClr val="B45309"/>
      </a:accent4>
      <a:accent5>
        <a:srgbClr val="64748B"/>
      </a:accent5>
      <a:accent6>
        <a:srgbClr val="5EB8AD"/>
      </a:accent6>
      <a:hlink>
        <a:srgbClr val="0F766E"/>
      </a:hlink>
      <a:folHlink>
        <a:srgbClr val="0B5E58"/>
      </a:folHlink>
    </a:clrScheme>
    <a:fontScheme name="AI Career Sear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 your career with AI: a beginner's guide</dc:title>
  <dc:subject>AI Career Search Prompt, Version 2.3, Free Public Beta</dc:subject>
  <dc:creator>Abuhurairah Rahman Pathan</dc:creator>
  <cp:lastModifiedBy>Abuhurairah Rahman Pathan</cp:lastModifiedBy>
  <cp:revision>1</cp:revision>
  <dcterms:created xsi:type="dcterms:W3CDTF">2026-10-25T18:25:48Z</dcterms:created>
  <dcterms:modified xsi:type="dcterms:W3CDTF">2026-10-25T18:25:48Z</dcterms:modified>
</cp:coreProperties>
</file>